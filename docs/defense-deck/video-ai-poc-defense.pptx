
<file path=[Content_Types].xml><?xml version="1.0" encoding="utf-8"?>
<ns0:Types xmlns:ns0="http://schemas.openxmlformats.org/package/2006/content-types">
  <ns0:Default Extension="jp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Metadata/LabelInfo.xml" ContentType="application/vnd.ms-office.classificationlabels+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5"/>
    <p:sldId id="260" r:id="rId6"/>
    <p:sldId id="258" r:id="rId4"/>
    <p:sldId id="261" r:id="rId7"/>
    <p:sldId id="262" r:id="rId8"/>
    <p:sldId id="270" r:id="rId21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658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开场约 </a:t>
            </a:r>
            <a:r>
              <a:rPr lang="en-US" altLang="zh-CN"/>
              <a:t>20 </a:t>
            </a:r>
            <a:r>
              <a:rPr lang="zh-CN" altLang="en-US"/>
              <a:t>秒：本次答辩聚焦一个问题</a:t>
            </a:r>
            <a:r>
              <a:rPr lang="en-US" altLang="zh-CN"/>
              <a:t>——</a:t>
            </a:r>
            <a:r>
              <a:rPr lang="zh-CN" altLang="en-US"/>
              <a:t>当监控里的人脸不可靠时，如何仍然给出可审计的身份线索和事件报告。接下来按“问题、产品、云端、实验、证明”的顺序展开。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 </a:t>
            </a:r>
            <a:r>
              <a:rPr lang="en-US" altLang="zh-CN"/>
              <a:t>55 </a:t>
            </a:r>
            <a:r>
              <a:rPr lang="zh-CN" altLang="en-US"/>
              <a:t>秒：先区分三种失败。最危险的不是系统拒绝，而是系统看似确定地认错。因此 </a:t>
            </a:r>
            <a:r>
              <a:rPr lang="en-US" altLang="zh-CN"/>
              <a:t>POC </a:t>
            </a:r>
            <a:r>
              <a:rPr lang="zh-CN" altLang="en-US"/>
              <a:t>不只追求准确率，还要求可拒绝、可追溯，并能真正进入事件时间线与 </a:t>
            </a:r>
            <a:r>
              <a:rPr lang="en-US" altLang="zh-CN"/>
              <a:t>API</a:t>
            </a:r>
            <a:r>
              <a:rPr lang="zh-CN" altLang="en-US"/>
              <a:t>。过渡：接下来先说明我具体完成了什么。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 </a:t>
            </a:r>
            <a:r>
              <a:rPr lang="en-US" altLang="zh-CN"/>
              <a:t>60 </a:t>
            </a:r>
            <a:r>
              <a:rPr lang="zh-CN" altLang="en-US"/>
              <a:t>秒：我的核心贡献不是重新发明模型，而是打通问题定义、产品接口、冻结实验、云端执行和结论回灌。右下也明确复用了公开模型、</a:t>
            </a:r>
            <a:r>
              <a:rPr lang="en-US" altLang="zh-CN"/>
              <a:t>Azure </a:t>
            </a:r>
            <a:r>
              <a:rPr lang="zh-CN" altLang="en-US"/>
              <a:t>平台与 </a:t>
            </a:r>
            <a:r>
              <a:rPr lang="en-US" altLang="zh-CN"/>
              <a:t>MEVID</a:t>
            </a:r>
            <a:r>
              <a:rPr lang="zh-CN" altLang="en-US"/>
              <a:t>，避免把平台能力误写成个人实现。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 </a:t>
            </a:r>
            <a:r>
              <a:rPr lang="en-US" altLang="zh-CN"/>
              <a:t>65 </a:t>
            </a:r>
            <a:r>
              <a:rPr lang="zh-CN" altLang="en-US"/>
              <a:t>秒：检测和跟踪先建立稳定 </a:t>
            </a:r>
            <a:r>
              <a:rPr lang="en-US" altLang="zh-CN"/>
              <a:t>track</a:t>
            </a:r>
            <a:r>
              <a:rPr lang="zh-CN" altLang="en-US"/>
              <a:t>。人物身份通道并行汇聚人脸、人形和步态；场景通道提供 </a:t>
            </a:r>
            <a:r>
              <a:rPr lang="en-US" altLang="zh-CN"/>
              <a:t>OCR</a:t>
            </a:r>
            <a:r>
              <a:rPr lang="zh-CN" altLang="en-US"/>
              <a:t>、物体与空间信息。两条证据在事件窗口和 </a:t>
            </a:r>
            <a:r>
              <a:rPr lang="en-US" altLang="zh-CN"/>
              <a:t>grounding </a:t>
            </a:r>
            <a:r>
              <a:rPr lang="zh-CN" altLang="en-US"/>
              <a:t>阶段汇合，再交给 </a:t>
            </a:r>
            <a:r>
              <a:rPr lang="en-US" altLang="zh-CN"/>
              <a:t>Azure OpenAI </a:t>
            </a:r>
            <a:r>
              <a:rPr lang="zh-CN" altLang="en-US"/>
              <a:t>生成事件报告。</a:t>
            </a:r>
            <a:r>
              <a:rPr lang="en-US" altLang="zh-CN"/>
              <a:t>LLM </a:t>
            </a:r>
            <a:r>
              <a:rPr lang="zh-CN" altLang="en-US"/>
              <a:t>不重新做人脸识别。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 </a:t>
            </a:r>
            <a:r>
              <a:rPr lang="en-US" altLang="zh-CN"/>
              <a:t>60 </a:t>
            </a:r>
            <a:r>
              <a:rPr lang="zh-CN" altLang="en-US"/>
              <a:t>秒：每一步都有明确输入输出；身份路由也是关键拒绝点。人脸 </a:t>
            </a:r>
            <a:r>
              <a:rPr lang="en-US" altLang="zh-CN"/>
              <a:t>unusable </a:t>
            </a:r>
            <a:r>
              <a:rPr lang="zh-CN" altLang="en-US"/>
              <a:t>时不强行给身份，转由 </a:t>
            </a:r>
            <a:r>
              <a:rPr lang="en-US" altLang="zh-CN"/>
              <a:t>Body </a:t>
            </a:r>
            <a:r>
              <a:rPr lang="zh-CN" altLang="en-US"/>
              <a:t>或 </a:t>
            </a:r>
            <a:r>
              <a:rPr lang="en-US" altLang="zh-CN"/>
              <a:t>Gait</a:t>
            </a:r>
            <a:r>
              <a:rPr lang="zh-CN" altLang="en-US"/>
              <a:t>；</a:t>
            </a:r>
            <a:r>
              <a:rPr lang="en-US" altLang="zh-CN"/>
              <a:t>dry-run </a:t>
            </a:r>
            <a:r>
              <a:rPr lang="zh-CN" altLang="en-US"/>
              <a:t>可以先验证视觉链路，之后用 </a:t>
            </a:r>
            <a:r>
              <a:rPr lang="en-US" altLang="zh-CN"/>
              <a:t>/complete </a:t>
            </a:r>
            <a:r>
              <a:rPr lang="zh-CN" altLang="en-US"/>
              <a:t>补 </a:t>
            </a:r>
            <a:r>
              <a:rPr lang="en-US" altLang="zh-CN"/>
              <a:t>LLM</a:t>
            </a:r>
            <a:r>
              <a:rPr lang="zh-CN" altLang="en-US"/>
              <a:t>。当前 </a:t>
            </a:r>
            <a:r>
              <a:rPr lang="en-US" altLang="zh-CN"/>
              <a:t>POC </a:t>
            </a:r>
            <a:r>
              <a:rPr lang="zh-CN" altLang="en-US"/>
              <a:t>仍是串行请求，这是已知工程边界。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 </a:t>
            </a:r>
            <a:r>
              <a:rPr lang="en-US" altLang="zh-CN"/>
              <a:t>65 </a:t>
            </a:r>
            <a:r>
              <a:rPr lang="zh-CN" altLang="en-US"/>
              <a:t>秒：仓库里有 </a:t>
            </a:r>
            <a:r>
              <a:rPr lang="en-US" altLang="zh-CN"/>
              <a:t>AKS </a:t>
            </a:r>
            <a:r>
              <a:rPr lang="zh-CN" altLang="en-US"/>
              <a:t>文档，但当前实际使用的是单台 </a:t>
            </a:r>
            <a:r>
              <a:rPr lang="en-US" altLang="zh-CN"/>
              <a:t>T4 Spot VM</a:t>
            </a:r>
            <a:r>
              <a:rPr lang="zh-CN" altLang="en-US"/>
              <a:t>。</a:t>
            </a:r>
            <a:r>
              <a:rPr lang="en-US" altLang="zh-CN"/>
              <a:t>GitHub Actions </a:t>
            </a:r>
            <a:r>
              <a:rPr lang="zh-CN" altLang="en-US"/>
              <a:t>通过 </a:t>
            </a:r>
            <a:r>
              <a:rPr lang="en-US" altLang="zh-CN"/>
              <a:t>OIDC </a:t>
            </a:r>
            <a:r>
              <a:rPr lang="zh-CN" altLang="en-US"/>
              <a:t>登录 </a:t>
            </a:r>
            <a:r>
              <a:rPr lang="en-US" altLang="zh-CN"/>
              <a:t>Azure</a:t>
            </a:r>
            <a:r>
              <a:rPr lang="zh-CN" altLang="en-US"/>
              <a:t>，在 </a:t>
            </a:r>
            <a:r>
              <a:rPr lang="en-US" altLang="zh-CN"/>
              <a:t>ACR </a:t>
            </a:r>
            <a:r>
              <a:rPr lang="zh-CN" altLang="en-US"/>
              <a:t>云端构建按 </a:t>
            </a:r>
            <a:r>
              <a:rPr lang="en-US" altLang="zh-CN"/>
              <a:t>commit </a:t>
            </a:r>
            <a:r>
              <a:rPr lang="zh-CN" altLang="en-US"/>
              <a:t>标记的镜像；部署工作流启动 </a:t>
            </a:r>
            <a:r>
              <a:rPr lang="en-US" altLang="zh-CN"/>
              <a:t>VM</a:t>
            </a:r>
            <a:r>
              <a:rPr lang="zh-CN" altLang="en-US"/>
              <a:t>、拉镜像、做健康检查，失败则回滚。模型、数据、</a:t>
            </a:r>
            <a:r>
              <a:rPr lang="en-US" altLang="zh-CN"/>
              <a:t>gallery </a:t>
            </a:r>
            <a:r>
              <a:rPr lang="zh-CN" altLang="en-US"/>
              <a:t>和结果挂在 </a:t>
            </a:r>
            <a:r>
              <a:rPr lang="en-US" altLang="zh-CN"/>
              <a:t>VM OS Disk</a:t>
            </a:r>
            <a:r>
              <a:rPr lang="zh-CN" altLang="en-US"/>
              <a:t>，密钥不进镜像。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65 秒：中心是冻结协议，周围六个环节共同保证可复现。所有模型只通过产品统一接口运行，样本清单在看结果之前冻结，失败不允许静默回退；缓存键绑定协议、设备和 provenance。最终还记录权重、源码 revision、Git commit 与结果哈希。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zh-CN" altLang="en-US"/>
              <ns1:t>约 60 秒：这不是实验日记，而是五次关键收敛。数据集不合适就换；门控触发过少或过多就拆分质量与处理资格；超分变清楚却损害身份后，关闭默认路径；最后冻结协议，对四个可接入产品的人形后端做公平对比。</ns1:t>
            </ns1:r>
            <ns1:r>
              <ns1:rPr lang="en-US" altLang="zh-CN"/>
              <ns1:t/>
            </ns1:r>
            <ns1:r>
              <ns1:rPr lang="zh-CN" altLang="en-US"/>
              <ns1:t/>
            </ns1:r>
            <ns1:endParaRPr lang="en-US" dirty="0"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8</ns1:t>
            </ns1:fld>
            <ns1:endParaRPr lang="en-US"/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 </a:t>
            </a:r>
            <a:r>
              <a:rPr lang="en-US" altLang="zh-CN"/>
              <a:t>70 </a:t>
            </a:r>
            <a:r>
              <a:rPr lang="zh-CN" altLang="en-US"/>
              <a:t>秒：主检验组是事先冻结的 </a:t>
            </a:r>
            <a:r>
              <a:rPr lang="en-US" altLang="zh-CN"/>
              <a:t>40 </a:t>
            </a:r>
            <a:r>
              <a:rPr lang="zh-CN" altLang="en-US"/>
              <a:t>条 </a:t>
            </a:r>
            <a:r>
              <a:rPr lang="en-US" altLang="zh-CN"/>
              <a:t>recoverable Query</a:t>
            </a:r>
            <a:r>
              <a:rPr lang="zh-CN" altLang="en-US"/>
              <a:t>。原图 </a:t>
            </a:r>
            <a:r>
              <a:rPr lang="en-US" altLang="zh-CN"/>
              <a:t>Rank-1 </a:t>
            </a:r>
            <a:r>
              <a:rPr lang="zh-CN" altLang="en-US"/>
              <a:t>为 </a:t>
            </a:r>
            <a:r>
              <a:rPr lang="en-US" altLang="zh-CN"/>
              <a:t>65%</a:t>
            </a:r>
            <a:r>
              <a:rPr lang="zh-CN" altLang="en-US"/>
              <a:t>，三种超分都更低；</a:t>
            </a:r>
            <a:r>
              <a:rPr lang="en-US" altLang="zh-CN"/>
              <a:t>GFPGAN </a:t>
            </a:r>
            <a:r>
              <a:rPr lang="zh-CN" altLang="en-US"/>
              <a:t>和 </a:t>
            </a:r>
            <a:r>
              <a:rPr lang="en-US" altLang="zh-CN"/>
              <a:t>CodeFormer </a:t>
            </a:r>
            <a:r>
              <a:rPr lang="zh-CN" altLang="en-US"/>
              <a:t>没救回一条，却分别损害 </a:t>
            </a:r>
            <a:r>
              <a:rPr lang="en-US" altLang="zh-CN"/>
              <a:t>18 </a:t>
            </a:r>
            <a:r>
              <a:rPr lang="zh-CN" altLang="en-US"/>
              <a:t>和 </a:t>
            </a:r>
            <a:r>
              <a:rPr lang="en-US" altLang="zh-CN"/>
              <a:t>15 </a:t>
            </a:r>
            <a:r>
              <a:rPr lang="zh-CN" altLang="en-US"/>
              <a:t>条。纯缩放对照不变，因此产品默认使用原始对齐脸，超分只保留为人工或显式实验能力。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 </a:t>
            </a:r>
            <a:r>
              <a:rPr lang="en-US" altLang="zh-CN"/>
              <a:t>65 </a:t>
            </a:r>
            <a:r>
              <a:rPr lang="zh-CN" altLang="en-US"/>
              <a:t>秒：</a:t>
            </a:r>
            <a:r>
              <a:rPr lang="en-US" altLang="zh-CN"/>
              <a:t>6503 </a:t>
            </a:r>
            <a:r>
              <a:rPr lang="zh-CN" altLang="en-US"/>
              <a:t>帧在运行任何模型前冻结，</a:t>
            </a:r>
            <a:r>
              <a:rPr lang="en-US" altLang="zh-CN"/>
              <a:t>train </a:t>
            </a:r>
            <a:r>
              <a:rPr lang="zh-CN" altLang="en-US"/>
              <a:t>只用于阈值校准，</a:t>
            </a:r>
            <a:r>
              <a:rPr lang="en-US" altLang="zh-CN"/>
              <a:t>test </a:t>
            </a:r>
            <a:r>
              <a:rPr lang="zh-CN" altLang="en-US"/>
              <a:t>用于一次性正式评测。</a:t>
            </a:r>
            <a:r>
              <a:rPr lang="en-US" altLang="zh-CN"/>
              <a:t>P1 </a:t>
            </a:r>
            <a:r>
              <a:rPr lang="zh-CN" altLang="en-US"/>
              <a:t>是主结果；</a:t>
            </a:r>
            <a:r>
              <a:rPr lang="en-US" altLang="zh-CN"/>
              <a:t>P2 </a:t>
            </a:r>
            <a:r>
              <a:rPr lang="zh-CN" altLang="en-US"/>
              <a:t>只保留严格换衣的 </a:t>
            </a:r>
            <a:r>
              <a:rPr lang="en-US" altLang="zh-CN"/>
              <a:t>23 </a:t>
            </a:r>
            <a:r>
              <a:rPr lang="zh-CN" altLang="en-US"/>
              <a:t>条 </a:t>
            </a:r>
            <a:r>
              <a:rPr lang="en-US" altLang="zh-CN"/>
              <a:t>Query</a:t>
            </a:r>
            <a:r>
              <a:rPr lang="zh-CN" altLang="en-US"/>
              <a:t>；</a:t>
            </a:r>
            <a:r>
              <a:rPr lang="en-US" altLang="zh-CN"/>
              <a:t>P3 </a:t>
            </a:r>
            <a:r>
              <a:rPr lang="zh-CN" altLang="en-US"/>
              <a:t>是同衣跨摄像头 </a:t>
            </a:r>
            <a:r>
              <a:rPr lang="en-US" altLang="zh-CN"/>
              <a:t>36 </a:t>
            </a:r>
            <a:r>
              <a:rPr lang="zh-CN" altLang="en-US"/>
              <a:t>条。四个模型读取同一清单，只有各自官方预处理不同。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 </a:t>
            </a:r>
            <a:r>
              <a:rPr lang="en-US" altLang="zh-CN"/>
              <a:t>85 </a:t>
            </a:r>
            <a:r>
              <a:rPr lang="zh-CN" altLang="en-US"/>
              <a:t>秒：</a:t>
            </a:r>
            <a:r>
              <a:rPr lang="en-US" altLang="zh-CN"/>
              <a:t>P1 </a:t>
            </a:r>
            <a:r>
              <a:rPr lang="zh-CN" altLang="en-US"/>
              <a:t>上 </a:t>
            </a:r>
            <a:r>
              <a:rPr lang="en-US" altLang="zh-CN"/>
              <a:t>DIFFER </a:t>
            </a:r>
            <a:r>
              <a:rPr lang="zh-CN" altLang="en-US"/>
              <a:t>三项闭集指标最高；</a:t>
            </a:r>
            <a:r>
              <a:rPr lang="en-US" altLang="zh-CN"/>
              <a:t>CLIP-ReID </a:t>
            </a:r>
            <a:r>
              <a:rPr lang="zh-CN" altLang="en-US"/>
              <a:t>与 </a:t>
            </a:r>
            <a:r>
              <a:rPr lang="en-US" altLang="zh-CN"/>
              <a:t>SigLIP2 Rank-1 </a:t>
            </a:r>
            <a:r>
              <a:rPr lang="zh-CN" altLang="en-US"/>
              <a:t>同为 </a:t>
            </a:r>
            <a:r>
              <a:rPr lang="en-US" altLang="zh-CN"/>
              <a:t>65.59%</a:t>
            </a:r>
            <a:r>
              <a:rPr lang="zh-CN" altLang="en-US"/>
              <a:t>。但 </a:t>
            </a:r>
            <a:r>
              <a:rPr lang="en-US" altLang="zh-CN"/>
              <a:t>CLIP-ReID </a:t>
            </a:r>
            <a:r>
              <a:rPr lang="zh-CN" altLang="en-US"/>
              <a:t>在当前 </a:t>
            </a:r>
            <a:r>
              <a:rPr lang="en-US" altLang="zh-CN"/>
              <a:t>T4 </a:t>
            </a:r>
            <a:r>
              <a:rPr lang="zh-CN" altLang="en-US"/>
              <a:t>上只有 </a:t>
            </a:r>
            <a:r>
              <a:rPr lang="en-US" altLang="zh-CN"/>
              <a:t>11.20 </a:t>
            </a:r>
            <a:r>
              <a:rPr lang="zh-CN" altLang="en-US"/>
              <a:t>毫秒，是默认平衡候选；</a:t>
            </a:r>
            <a:r>
              <a:rPr lang="en-US" altLang="zh-CN"/>
              <a:t>DIFFER </a:t>
            </a:r>
            <a:r>
              <a:rPr lang="zh-CN" altLang="en-US"/>
              <a:t>适合准确率或换衣优先的二阶段分析，但平均 </a:t>
            </a:r>
            <a:r>
              <a:rPr lang="en-US" altLang="zh-CN"/>
              <a:t>67.75 </a:t>
            </a:r>
            <a:r>
              <a:rPr lang="zh-CN" altLang="en-US"/>
              <a:t>毫秒。</a:t>
            </a:r>
            <a:r>
              <a:rPr lang="en-US" altLang="zh-CN"/>
              <a:t>P2 </a:t>
            </a:r>
            <a:r>
              <a:rPr lang="zh-CN" altLang="en-US"/>
              <a:t>最好也只有 </a:t>
            </a:r>
            <a:r>
              <a:rPr lang="en-US" altLang="zh-CN"/>
              <a:t>34.78%</a:t>
            </a:r>
            <a:r>
              <a:rPr lang="zh-CN" altLang="en-US"/>
              <a:t>，说明换衣远未解决。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 </a:t>
            </a:r>
            <a:r>
              <a:rPr lang="en-US" altLang="zh-CN"/>
              <a:t>50 </a:t>
            </a:r>
            <a:r>
              <a:rPr lang="zh-CN" altLang="en-US"/>
              <a:t>秒：建议演示控制在一分钟。先展示原始视频，再展示检测跟踪和身份 </a:t>
            </a:r>
            <a:r>
              <a:rPr lang="en-US" altLang="zh-CN"/>
              <a:t>fallback</a:t>
            </a:r>
            <a:r>
              <a:rPr lang="zh-CN" altLang="en-US"/>
              <a:t>，随后进入事件窗口、</a:t>
            </a:r>
            <a:r>
              <a:rPr lang="en-US" altLang="zh-CN"/>
              <a:t>JSON </a:t>
            </a:r>
            <a:r>
              <a:rPr lang="zh-CN" altLang="en-US"/>
              <a:t>和 </a:t>
            </a:r>
            <a:r>
              <a:rPr lang="en-US" altLang="zh-CN"/>
              <a:t>Web </a:t>
            </a:r>
            <a:r>
              <a:rPr lang="zh-CN" altLang="en-US"/>
              <a:t>时间线。正式答辩优先播放预录视频；现场保留 </a:t>
            </a:r>
            <a:r>
              <a:rPr lang="en-US" altLang="zh-CN"/>
              <a:t>dry-run JSON</a:t>
            </a:r>
            <a:r>
              <a:rPr lang="zh-CN" altLang="en-US"/>
              <a:t>、健康检查和本地样片作为三级备份。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 </a:t>
            </a:r>
            <a:r>
              <a:rPr lang="en-US" altLang="zh-CN"/>
              <a:t>65 </a:t>
            </a:r>
            <a:r>
              <a:rPr lang="zh-CN" altLang="en-US"/>
              <a:t>秒：已经证明的是链路能跑、实验可审计，并能支持当前四个现成后端的阶段性选型。尚未证明的是客户域、百万级误识率和完整端到端准确率。下一步优先冻结客户域验证集，再把检测漏检、跟踪切换和跨镜头关联纳入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收尾约 </a:t>
            </a:r>
            <a:r>
              <a:rPr lang="en-US" altLang="zh-CN"/>
              <a:t>30 </a:t>
            </a:r>
            <a:r>
              <a:rPr lang="zh-CN" altLang="en-US"/>
              <a:t>秒：第一，产品必须允许拒绝和 </a:t>
            </a:r>
            <a:r>
              <a:rPr lang="en-US" altLang="zh-CN"/>
              <a:t>fallback</a:t>
            </a:r>
            <a:r>
              <a:rPr lang="zh-CN" altLang="en-US"/>
              <a:t>；第二，冻结协议支持当前四个后端的产品选型，但不外推成普遍算法排名；第三，</a:t>
            </a:r>
            <a:r>
              <a:rPr lang="en-US" altLang="zh-CN"/>
              <a:t>CLIP-ReID </a:t>
            </a:r>
            <a:r>
              <a:rPr lang="zh-CN" altLang="en-US"/>
              <a:t>是平衡默认候选，</a:t>
            </a:r>
            <a:r>
              <a:rPr lang="en-US" altLang="zh-CN"/>
              <a:t>DIFFER </a:t>
            </a:r>
            <a:r>
              <a:rPr lang="zh-CN" altLang="en-US"/>
              <a:t>是准确率优先候选，超分默认关闭。谢谢，进入问答。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3" Type="http://schemas.openxmlformats.org/officeDocument/2006/relationships/image" Target="../media/image3.png" /><ns0:Relationship Id="rId4" Type="http://schemas.openxmlformats.org/officeDocument/2006/relationships/image" Target="../media/image4.png" /><ns0:Relationship Id="rId5" Type="http://schemas.openxmlformats.org/officeDocument/2006/relationships/image" Target="../media/image5.png" /></ns0: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Shape 1"/>
          <p:cNvSpPr/>
          <p:nvPr/>
        </p:nvSpPr>
        <p:spPr>
          <a:xfrm rot="1080000">
            <a:off x="7680960" y="594360"/>
            <a:ext cx="3840480" cy="3840480"/>
          </a:xfrm>
          <a:prstGeom prst="arc">
            <a:avLst/>
          </a:prstGeom>
          <a:solidFill>
            <a:srgbClr val="0B3558"/>
          </a:solidFill>
          <a:ln w="19050">
            <a:solidFill>
              <a:srgbClr val="0078D4"/>
            </a:solidFill>
          </a:ln>
        </p:spPr>
      </p:sp>
      <p:sp>
        <p:nvSpPr>
          <p:cNvPr id="4" name="Shape 2"/>
          <p:cNvSpPr/>
          <p:nvPr/>
        </p:nvSpPr>
        <p:spPr>
          <a:xfrm rot="1080000">
            <a:off x="7827264" y="740664"/>
            <a:ext cx="3547872" cy="3547872"/>
          </a:xfrm>
          <a:prstGeom prst="arc">
            <a:avLst/>
          </a:prstGeom>
          <a:solidFill>
            <a:srgbClr val="0A3150"/>
          </a:solidFill>
          <a:ln w="12700">
            <a:solidFill>
              <a:srgbClr val="38536E"/>
            </a:solidFill>
          </a:ln>
        </p:spPr>
      </p:sp>
      <p:sp>
        <p:nvSpPr>
          <p:cNvPr id="5" name="Shape 3"/>
          <p:cNvSpPr/>
          <p:nvPr/>
        </p:nvSpPr>
        <p:spPr>
          <a:xfrm rot="1080000">
            <a:off x="7973568" y="886968"/>
            <a:ext cx="3255264" cy="3255264"/>
          </a:xfrm>
          <a:prstGeom prst="arc">
            <a:avLst/>
          </a:prstGeom>
          <a:solidFill>
            <a:srgbClr val="092A45"/>
          </a:solidFill>
          <a:ln w="12700">
            <a:solidFill>
              <a:srgbClr val="38536E"/>
            </a:solidFill>
          </a:ln>
        </p:spPr>
      </p:sp>
      <p:sp>
        <p:nvSpPr>
          <p:cNvPr id="6" name="Shape 4"/>
          <p:cNvSpPr/>
          <p:nvPr/>
        </p:nvSpPr>
        <p:spPr>
          <a:xfrm rot="1080000">
            <a:off x="8119872" y="1033272"/>
            <a:ext cx="2962656" cy="2962656"/>
          </a:xfrm>
          <a:prstGeom prst="arc">
            <a:avLst/>
          </a:prstGeom>
          <a:solidFill>
            <a:srgbClr val="08243B"/>
          </a:solidFill>
          <a:ln w="12700">
            <a:solidFill>
              <a:srgbClr val="38536E"/>
            </a:solidFill>
          </a:ln>
        </p:spPr>
      </p:sp>
      <p:sp>
        <p:nvSpPr>
          <p:cNvPr id="7" name="Shape 5"/>
          <p:cNvSpPr/>
          <p:nvPr/>
        </p:nvSpPr>
        <p:spPr>
          <a:xfrm>
            <a:off x="8366760" y="2578608"/>
            <a:ext cx="2560320" cy="0"/>
          </a:xfrm>
          <a:prstGeom prst="line">
            <a:avLst/>
          </a:prstGeom>
          <a:noFill/>
          <a:ln w="15240">
            <a:solidFill>
              <a:srgbClr val="0078D4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505188" y="2500884"/>
            <a:ext cx="155448" cy="155448"/>
          </a:xfrm>
          <a:prstGeom prst="ellipse">
            <a:avLst/>
          </a:prstGeom>
          <a:solidFill>
            <a:srgbClr val="FFB900"/>
          </a:solidFill>
          <a:ln>
            <a:solidFill>
              <a:srgbClr val="FFB900"/>
            </a:solidFill>
          </a:ln>
        </p:spPr>
      </p:sp>
      <p:sp>
        <p:nvSpPr>
          <p:cNvPr id="9" name="Shape 7"/>
          <p:cNvSpPr/>
          <p:nvPr/>
        </p:nvSpPr>
        <p:spPr>
          <a:xfrm>
            <a:off x="1042416" y="566928"/>
            <a:ext cx="2267712" cy="283464"/>
          </a:xfrm>
          <a:prstGeom prst="roundRect">
            <a:avLst/>
          </a:prstGeom>
          <a:noFill/>
          <a:ln>
            <a:noFill/>
          </a:ln>
        </p:spPr>
      </p:sp>
      <p:sp>
        <p:nvSpPr>
          <p:cNvPr id="10" name="Text 8"/>
          <p:cNvSpPr txBox="1"/>
          <p:nvPr/>
        </p:nvSpPr>
        <p:spPr>
          <a:xfrm>
            <a:off x="1042416" y="576072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 b="1" sz="1050" spc="120">
                <a:solidFill>
                  <a:srgbClr val="B7C8D8"/>
                </a:solidFill>
                <a:latin typeface="Segoe UI Semibold"/>
                <a:ea typeface="Microsoft YaHei" pitchFamily="34" charset="-122"/>
                <a:cs typeface="Microsoft YaHei" pitchFamily="34" charset="-120"/>
              </a:rPr>
              <a:t/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298448"/>
            <a:ext cx="7086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 b="1" sz="3800">
                <a:solidFill>
                  <a:srgbClr val="FFFFFF"/>
                </a:solidFill>
                <a:latin typeface="Segoe UI Semibold"/>
                <a:ea typeface="Microsoft YaHei" pitchFamily="34" charset="-122"/>
                <a:cs typeface="Microsoft YaHei" pitchFamily="34" charset="-120"/>
              </a:rPr>
              <a:t>视频监控 × 人物匹配</a:t>
            </a:r>
            <a:endParaRPr lang="en-US" sz="3800" dirty="0"/>
          </a:p>
          <a:p>
            <a:pPr marL="0" indent="0" algn="l">
              <a:buNone/>
            </a:pPr>
            <a:r>
              <a:rPr lang="en-US" dirty="0" b="1" sz="3800">
                <a:solidFill>
                  <a:srgbClr val="FFFFFF"/>
                </a:solidFill>
                <a:latin typeface="Segoe UI Semibold"/>
                <a:ea typeface="Microsoft YaHei" pitchFamily="34" charset="-122"/>
                <a:cs typeface="Microsoft YaHei" pitchFamily="34" charset="-120"/>
              </a:rPr>
              <a:t>AI 事件理解端到端 PoC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300837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B7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76656" y="3886200"/>
            <a:ext cx="1572768" cy="283464"/>
          </a:xfrm>
          <a:prstGeom prst="roundRect">
            <a:avLst/>
          </a:prstGeom>
          <a:noFill/>
          <a:ln>
            <a:noFill/>
          </a:ln>
        </p:spPr>
      </p:sp>
      <p:sp>
        <p:nvSpPr>
          <p:cNvPr id="14" name="Text 12"/>
          <p:cNvSpPr txBox="1"/>
          <p:nvPr/>
        </p:nvSpPr>
        <p:spPr>
          <a:xfrm>
            <a:off x="676656" y="389534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 b="1" sz="1400">
                <a:solidFill>
                  <a:srgbClr val="FFFFFF"/>
                </a:solidFill>
                <a:latin typeface="Microsoft YaHei"/>
                <a:ea typeface="Microsoft YaHei" pitchFamily="34" charset="-122"/>
                <a:cs typeface="Microsoft YaHei" pitchFamily="34" charset="-120"/>
              </a:rPr>
              <a:t/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2432304" y="3886200"/>
            <a:ext cx="1984248" cy="283464"/>
          </a:xfrm>
          <a:prstGeom prst="roundRect">
            <a:avLst/>
          </a:prstGeom>
          <a:noFill/>
          <a:ln>
            <a:noFill/>
          </a:ln>
        </p:spPr>
      </p:sp>
      <p:sp>
        <p:nvSpPr>
          <p:cNvPr id="16" name="Text 14"/>
          <p:cNvSpPr txBox="1"/>
          <p:nvPr/>
        </p:nvSpPr>
        <p:spPr>
          <a:xfrm>
            <a:off x="2432304" y="3895344"/>
            <a:ext cx="1984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 sz="1300">
                <a:solidFill>
                  <a:srgbClr val="B7C8D8"/>
                </a:solidFill>
                <a:latin typeface="Segoe UI"/>
                <a:ea typeface="Microsoft YaHei" pitchFamily="34" charset="-122"/>
                <a:cs typeface="Microsoft YaHei" pitchFamily="34" charset="-120"/>
              </a:rPr>
              <a:t/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4617720" y="3886200"/>
            <a:ext cx="1298448" cy="283464"/>
          </a:xfrm>
          <a:prstGeom prst="roundRect">
            <a:avLst/>
          </a:prstGeom>
          <a:noFill/>
          <a:ln>
            <a:noFill/>
          </a:ln>
        </p:spPr>
      </p:sp>
      <p:sp>
        <p:nvSpPr>
          <p:cNvPr id="18" name="Text 16"/>
          <p:cNvSpPr txBox="1"/>
          <p:nvPr/>
        </p:nvSpPr>
        <p:spPr>
          <a:xfrm>
            <a:off x="4617720" y="3895344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6062472" y="3886200"/>
            <a:ext cx="1298448" cy="283464"/>
          </a:xfrm>
          <a:prstGeom prst="roundRect">
            <a:avLst/>
          </a:prstGeom>
          <a:noFill/>
          <a:ln>
            <a:noFill/>
          </a:ln>
        </p:spPr>
      </p:sp>
      <p:sp>
        <p:nvSpPr>
          <p:cNvPr id="20" name="Text 18"/>
          <p:cNvSpPr txBox="1"/>
          <p:nvPr/>
        </p:nvSpPr>
        <p:spPr>
          <a:xfrm>
            <a:off x="6062472" y="3895344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10" dirty="0"/>
          </a:p>
        </p:txBody>
      </p:sp>
      <p:sp>
        <p:nvSpPr>
          <p:cNvPr id="21" name="Text 19"/>
          <p:cNvSpPr txBox="1"/>
          <p:nvPr/>
        </p:nvSpPr>
        <p:spPr>
          <a:xfrm>
            <a:off x="676656" y="608352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6F8A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5285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D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6079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3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C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900" dirty="0"/>
          </a:p>
        </p:txBody>
      </p:sp>
      <p:sp>
        <p:nvSpPr>
          <p:cNvPr id="25" name="Shape 25"/>
          <p:cNvSpPr/>
          <p:nvPr/>
        </p:nvSpPr>
        <p:spPr>
          <a:xfrm>
            <a:off x="658368" y="566928"/>
            <a:ext cx="137160" cy="137160"/>
          </a:xfrm>
          <a:prstGeom prst="rect">
            <a:avLst/>
          </a:prstGeom>
          <a:solidFill>
            <a:srgbClr val="F25022"/>
          </a:solidFill>
        </p:spPr>
        <p:txBody>
          <a:bodyPr rtlCol="0" anchor="ctr"/>
          <a:lstStyle/>
          <a:p/>
        </p:txBody>
      </p:sp>
      <p:sp>
        <p:nvSpPr>
          <p:cNvPr id="26" name="Shape 26"/>
          <p:cNvSpPr/>
          <p:nvPr/>
        </p:nvSpPr>
        <p:spPr>
          <a:xfrm>
            <a:off x="832104" y="566928"/>
            <a:ext cx="137160" cy="137160"/>
          </a:xfrm>
          <a:prstGeom prst="rect">
            <a:avLst/>
          </a:prstGeom>
          <a:solidFill>
            <a:srgbClr val="7FBA00"/>
          </a:solidFill>
        </p:spPr>
        <p:txBody>
          <a:bodyPr rtlCol="0" anchor="ctr"/>
          <a:lstStyle/>
          <a:p/>
        </p:txBody>
      </p:sp>
      <p:sp>
        <p:nvSpPr>
          <p:cNvPr id="27" name="Shape 27"/>
          <p:cNvSpPr/>
          <p:nvPr/>
        </p:nvSpPr>
        <p:spPr>
          <a:xfrm>
            <a:off x="658368" y="740664"/>
            <a:ext cx="137160" cy="137160"/>
          </a:xfrm>
          <a:prstGeom prst="rect">
            <a:avLst/>
          </a:prstGeom>
          <a:solidFill>
            <a:srgbClr val="00A4EF"/>
          </a:solidFill>
        </p:spPr>
        <p:txBody>
          <a:bodyPr rtlCol="0" anchor="ctr"/>
          <a:lstStyle/>
          <a:p/>
        </p:txBody>
      </p:sp>
      <p:sp>
        <p:nvSpPr>
          <p:cNvPr id="28" name="Shape 28"/>
          <p:cNvSpPr/>
          <p:nvPr/>
        </p:nvSpPr>
        <p:spPr>
          <a:xfrm>
            <a:off x="832104" y="740664"/>
            <a:ext cx="137160" cy="137160"/>
          </a:xfrm>
          <a:prstGeom prst="rect">
            <a:avLst/>
          </a:prstGeom>
          <a:solidFill>
            <a:srgbClr val="FFB900"/>
          </a:solidFill>
        </p:spPr>
        <p:txBody>
          <a:bodyPr rtlCol="0" anchor="ctr"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676656" y="3190000"/>
            <a:ext cx="914400" cy="3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400">
                <a:solidFill>
                  <a:srgbClr val="FFFFFF"/>
                </a:solidFill>
                <a:latin typeface="Microsoft YaHei"/>
              </a:rPr>
              <a:t>吴止境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90000" y="3190000"/>
            <a:ext cx="2000000" cy="3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300">
                <a:solidFill>
                  <a:srgbClr val="B7C8D8"/>
                </a:solidFill>
                <a:latin typeface="Segoe UI"/>
              </a:rPr>
              <a:t>2026 · May–August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48132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38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WHY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5895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不是“看清画面”，而是避免“自信地认错”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7101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低质量监控同时损伤信息量、可建库性与身份判定安全性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1080000">
            <a:off x="10588752" y="-502920"/>
            <a:ext cx="2057400" cy="2057400"/>
          </a:xfrm>
          <a:prstGeom prst="arc">
            <a:avLst/>
          </a:prstGeom>
          <a:solidFill>
            <a:srgbClr val="D8E8EE">
              <a:alpha val="0"/>
            </a:srgbClr>
          </a:solidFill>
          <a:ln w="13970">
            <a:solidFill>
              <a:srgbClr val="D8E8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4572" y="370332"/>
            <a:ext cx="100584" cy="100584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20624"/>
            <a:ext cx="658368" cy="0"/>
          </a:xfrm>
          <a:prstGeom prst="line">
            <a:avLst/>
          </a:prstGeom>
          <a:noFill/>
          <a:ln w="8890">
            <a:solidFill>
              <a:srgbClr val="BFD3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2423160" cy="1481328"/>
          </a:xfrm>
          <a:prstGeom prst="roundRect">
            <a:avLst>
              <a:gd name="adj" fmla="val 7407"/>
            </a:avLst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993392"/>
            <a:ext cx="438912" cy="283464"/>
          </a:xfrm>
          <a:prstGeom prst="roundRect">
            <a:avLst/>
          </a:prstGeom>
          <a:solidFill>
            <a:srgbClr val="58697C"/>
          </a:solidFill>
          <a:ln w="12700">
            <a:solidFill>
              <a:srgbClr val="58697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002536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395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不能识别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76148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脸太小 / 运动模糊 / 侧脸遮挡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1828800"/>
            <a:ext cx="2423160" cy="1481328"/>
          </a:xfrm>
          <a:prstGeom prst="roundRect">
            <a:avLst>
              <a:gd name="adj" fmla="val 7407"/>
            </a:avLst>
          </a:prstGeom>
          <a:solidFill>
            <a:srgbClr val="FFF2D6"/>
          </a:solidFill>
          <a:ln w="12700">
            <a:solidFill>
              <a:srgbClr val="FFF2D6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10712" y="1993392"/>
            <a:ext cx="438912" cy="283464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0712" y="2002536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410712" y="2395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不能建库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410712" y="276148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参考图不稳定，模板先天失真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1828800"/>
            <a:ext cx="2423160" cy="1481328"/>
          </a:xfrm>
          <a:prstGeom prst="roundRect">
            <a:avLst>
              <a:gd name="adj" fmla="val 7407"/>
            </a:avLst>
          </a:prstGeom>
          <a:solidFill>
            <a:srgbClr val="FDEAEA"/>
          </a:solidFill>
          <a:ln w="12700">
            <a:solidFill>
              <a:srgbClr val="FDEA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08192" y="1993392"/>
            <a:ext cx="438912" cy="283464"/>
          </a:xfrm>
          <a:prstGeom prst="round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08192" y="2002536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108192" y="2395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2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错误识别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108192" y="276148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给出确定身份，却指向错误的人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68512" y="1792224"/>
            <a:ext cx="2926080" cy="3566160"/>
          </a:xfrm>
          <a:prstGeom prst="roundRect">
            <a:avLst>
              <a:gd name="adj" fmla="val 3750"/>
            </a:avLst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942832" y="2011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D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目标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2395728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验证一条可落地、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可拒绝、可审计的身份链路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997696" y="3447288"/>
            <a:ext cx="109728" cy="109728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98864" y="334670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D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637776" y="334670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C4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身份结果进入事件时间线 / API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8997696" y="3977640"/>
            <a:ext cx="109728" cy="109728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98864" y="387705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D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637776" y="387705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C4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后端可插拔，失败不静默回退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8997696" y="450799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98864" y="44074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637776" y="440740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C4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同一冻结协议，能复算、能追溯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594360" y="3977640"/>
            <a:ext cx="7589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68680" y="4187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成功标准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965960" y="4123944"/>
            <a:ext cx="868680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965960" y="413308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数据公平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965960" y="4453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Gallery / Query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3730752" y="41605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D8E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3959352" y="4123944"/>
            <a:ext cx="868680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959352" y="413308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结果可量化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959352" y="4453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Rank / mAP / P2 / P3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724144" y="41605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D8E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5952744" y="4123944"/>
            <a:ext cx="868680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52744" y="413308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系统可运行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5952744" y="4453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+ JSON + 云端 GPU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12064" y="6089904"/>
            <a:ext cx="10332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8492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证据：super_resolution_stage_report.md §1；README.md</a:t>
            </a:r>
            <a:endParaRPr lang="en-US" sz="740" dirty="0"/>
          </a:p>
        </p:txBody>
      </p:sp>
      <p:sp>
        <p:nvSpPr>
          <p:cNvPr id="50" name="Text 48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9AA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51" name="Text 49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48132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38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PRODUCT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5895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产品架构：身份与场景两条证据流，在事件窗口汇合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7101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CV 回答“谁 / 在哪里”；多模态模型负责“发生了什么”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1080000">
            <a:off x="10588752" y="-502920"/>
            <a:ext cx="2057400" cy="2057400"/>
          </a:xfrm>
          <a:prstGeom prst="arc">
            <a:avLst/>
          </a:prstGeom>
          <a:solidFill>
            <a:srgbClr val="D8E8EE">
              <a:alpha val="0"/>
            </a:srgbClr>
          </a:solidFill>
          <a:ln w="13970">
            <a:solidFill>
              <a:srgbClr val="D8E8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4572" y="370332"/>
            <a:ext cx="100584" cy="100584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20624"/>
            <a:ext cx="658368" cy="0"/>
          </a:xfrm>
          <a:prstGeom prst="line">
            <a:avLst/>
          </a:prstGeom>
          <a:noFill/>
          <a:ln w="8890">
            <a:solidFill>
              <a:srgbClr val="BFD3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02920" y="1965960"/>
            <a:ext cx="1353312" cy="2606040"/>
          </a:xfrm>
          <a:prstGeom prst="roundRect">
            <a:avLst>
              <a:gd name="adj" fmla="val 8108"/>
            </a:avLst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1854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D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" y="2724912"/>
            <a:ext cx="868680" cy="658368"/>
          </a:xfrm>
          <a:prstGeom prst="roundRect">
            <a:avLst/>
          </a:prstGeom>
          <a:solidFill>
            <a:srgbClr val="173551"/>
          </a:solidFill>
          <a:ln w="12700">
            <a:solidFill>
              <a:srgbClr val="2F58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98064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视频文件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上传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703320"/>
            <a:ext cx="94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FC2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FC2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/understand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83664" y="3246120"/>
            <a:ext cx="384048" cy="0"/>
          </a:xfrm>
          <a:prstGeom prst="line">
            <a:avLst/>
          </a:prstGeom>
          <a:noFill/>
          <a:ln w="2286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67712" y="2167128"/>
            <a:ext cx="1591056" cy="19751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67712" y="2167128"/>
            <a:ext cx="73152" cy="1975104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68880" y="2450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· 跟踪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3072384"/>
            <a:ext cx="1280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 + ByteTrack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BoT-SORT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3886200" y="3172968"/>
            <a:ext cx="173736" cy="0"/>
          </a:xfrm>
          <a:prstGeom prst="line">
            <a:avLst/>
          </a:prstGeom>
          <a:noFill/>
          <a:ln w="2032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33088" y="2167128"/>
            <a:ext cx="2395728" cy="197510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33088" y="2167128"/>
            <a:ext cx="73152" cy="1975104"/>
          </a:xfrm>
          <a:prstGeom prst="rect">
            <a:avLst/>
          </a:prstGeom>
          <a:solidFill>
            <a:srgbClr val="7957D5"/>
          </a:solidFill>
          <a:ln w="12700">
            <a:solidFill>
              <a:srgbClr val="7957D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34256" y="245059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人物身份 LANE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334256" y="3072384"/>
            <a:ext cx="20848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 / Body ReID / Gait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质量门控 · Gallery · 跨轨迹归并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556248" y="3172968"/>
            <a:ext cx="155448" cy="0"/>
          </a:xfrm>
          <a:prstGeom prst="line">
            <a:avLst/>
          </a:prstGeom>
          <a:noFill/>
          <a:ln w="2032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784848" y="2167128"/>
            <a:ext cx="1783080" cy="1975104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84848" y="2167128"/>
            <a:ext cx="73152" cy="19751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86016" y="2450592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事件分窗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986016" y="3072384"/>
            <a:ext cx="14721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语义窗口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关键帧选择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595360" y="3172968"/>
            <a:ext cx="146304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14816" y="2167128"/>
            <a:ext cx="1664208" cy="1975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814816" y="2167128"/>
            <a:ext cx="73152" cy="1975104"/>
          </a:xfrm>
          <a:prstGeom prst="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15984" y="245059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多模态报告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015984" y="3072384"/>
            <a:ext cx="13533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OpenAI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 + 总结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10506456" y="3172968"/>
            <a:ext cx="155448" cy="0"/>
          </a:xfrm>
          <a:prstGeom prst="line">
            <a:avLst/>
          </a:prstGeom>
          <a:noFill/>
          <a:ln w="2032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735056" y="2167128"/>
            <a:ext cx="960120" cy="1975104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735056" y="2167128"/>
            <a:ext cx="73152" cy="1975104"/>
          </a:xfrm>
          <a:prstGeom prst="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936224" y="2450592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936224" y="3072384"/>
            <a:ext cx="6492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4133088" y="4517136"/>
            <a:ext cx="4434840" cy="960120"/>
          </a:xfrm>
          <a:prstGeom prst="roundRect">
            <a:avLst>
              <a:gd name="adj" fmla="val 11429"/>
            </a:avLst>
          </a:prstGeom>
          <a:solidFill>
            <a:srgbClr val="E4F7EF"/>
          </a:solidFill>
          <a:ln w="12700">
            <a:solidFill>
              <a:srgbClr val="B9E3D1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4361688" y="4690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场景证据 LANE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715000" y="468172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· 物体 / 包裹 · bbox / trajectory grounding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4297680" y="3794760"/>
            <a:ext cx="621792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297680" y="3803904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5038344" y="3794760"/>
            <a:ext cx="749808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38344" y="3803904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Body ReID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5779008" y="3794760"/>
            <a:ext cx="621792" cy="283464"/>
          </a:xfrm>
          <a:prstGeom prst="roundRect">
            <a:avLst/>
          </a:prstGeom>
          <a:solidFill>
            <a:srgbClr val="7957D5"/>
          </a:solidFill>
          <a:ln w="12700">
            <a:solidFill>
              <a:srgbClr val="7957D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779008" y="3803904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Gait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 flipV="1">
            <a:off x="7635240" y="4187952"/>
            <a:ext cx="0" cy="329184"/>
          </a:xfrm>
          <a:prstGeom prst="line">
            <a:avLst/>
          </a:prstGeom>
          <a:noFill/>
          <a:ln w="17780">
            <a:solidFill>
              <a:srgbClr val="18A66A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379208" y="5715000"/>
            <a:ext cx="2029968" cy="283464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379208" y="5724144"/>
            <a:ext cx="2029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不重新做人脸 / 身份识别</a:t>
            </a:r>
            <a:endParaRPr lang="en-US" sz="980" dirty="0"/>
          </a:p>
        </p:txBody>
      </p:sp>
      <p:sp>
        <p:nvSpPr>
          <p:cNvPr id="51" name="Text 49"/>
          <p:cNvSpPr txBox="1"/>
          <p:nvPr/>
        </p:nvSpPr>
        <p:spPr>
          <a:xfrm>
            <a:off x="512064" y="6089904"/>
            <a:ext cx="10332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8492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证据：README.md；CODE_MAP.md；docs/phase4-logic-flow.*</a:t>
            </a:r>
            <a:endParaRPr lang="en-US" sz="740" dirty="0"/>
          </a:p>
        </p:txBody>
      </p:sp>
      <p:sp>
        <p:nvSpPr>
          <p:cNvPr id="52" name="Text 50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9AA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53" name="Text 51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48132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38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FLOW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5895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一次请求如何变成可审计事件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7101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主链、拒绝点与 fallback 在同一条事件流中显式存在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1080000">
            <a:off x="10588752" y="-502920"/>
            <a:ext cx="2057400" cy="2057400"/>
          </a:xfrm>
          <a:prstGeom prst="arc">
            <a:avLst/>
          </a:prstGeom>
          <a:solidFill>
            <a:srgbClr val="D8E8EE">
              <a:alpha val="0"/>
            </a:srgbClr>
          </a:solidFill>
          <a:ln w="13970">
            <a:solidFill>
              <a:srgbClr val="D8E8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4572" y="370332"/>
            <a:ext cx="100584" cy="100584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20624"/>
            <a:ext cx="658368" cy="0"/>
          </a:xfrm>
          <a:prstGeom prst="line">
            <a:avLst/>
          </a:prstGeom>
          <a:noFill/>
          <a:ln w="8890">
            <a:solidFill>
              <a:srgbClr val="BFD3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21792" y="2039112"/>
            <a:ext cx="1298448" cy="1426464"/>
          </a:xfrm>
          <a:prstGeom prst="roundRect">
            <a:avLst>
              <a:gd name="adj" fmla="val 8451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8096" y="2194560"/>
            <a:ext cx="393192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203704"/>
            <a:ext cx="393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257860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选择样片 / 上传</a:t>
            </a:r>
            <a:endParaRPr lang="en-US" sz="122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3090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929384" y="2761488"/>
            <a:ext cx="256032" cy="0"/>
          </a:xfrm>
          <a:prstGeom prst="line">
            <a:avLst/>
          </a:prstGeom>
          <a:noFill/>
          <a:ln w="1778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21992" y="2039112"/>
            <a:ext cx="1298448" cy="1426464"/>
          </a:xfrm>
          <a:prstGeom prst="roundRect">
            <a:avLst>
              <a:gd name="adj" fmla="val 8451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68296" y="2194560"/>
            <a:ext cx="393192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68296" y="2203704"/>
            <a:ext cx="393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359152" y="257860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/understand</a:t>
            </a:r>
            <a:endParaRPr lang="en-US" sz="1220" dirty="0"/>
          </a:p>
        </p:txBody>
      </p:sp>
      <p:sp>
        <p:nvSpPr>
          <p:cNvPr id="19" name="Text 17"/>
          <p:cNvSpPr txBox="1"/>
          <p:nvPr/>
        </p:nvSpPr>
        <p:spPr>
          <a:xfrm>
            <a:off x="2359152" y="3090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config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529584" y="2761488"/>
            <a:ext cx="256032" cy="0"/>
          </a:xfrm>
          <a:prstGeom prst="line">
            <a:avLst/>
          </a:prstGeom>
          <a:noFill/>
          <a:ln w="1778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822192" y="2039112"/>
            <a:ext cx="1298448" cy="1426464"/>
          </a:xfrm>
          <a:prstGeom prst="roundRect">
            <a:avLst>
              <a:gd name="adj" fmla="val 8451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68496" y="2194560"/>
            <a:ext cx="393192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68496" y="2203704"/>
            <a:ext cx="393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959352" y="257860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+ track</a:t>
            </a:r>
            <a:endParaRPr lang="en-US" sz="1220" dirty="0"/>
          </a:p>
        </p:txBody>
      </p:sp>
      <p:sp>
        <p:nvSpPr>
          <p:cNvPr id="25" name="Text 23"/>
          <p:cNvSpPr txBox="1"/>
          <p:nvPr/>
        </p:nvSpPr>
        <p:spPr>
          <a:xfrm>
            <a:off x="3959352" y="3090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track_id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129784" y="2761488"/>
            <a:ext cx="256032" cy="0"/>
          </a:xfrm>
          <a:prstGeom prst="line">
            <a:avLst/>
          </a:prstGeom>
          <a:noFill/>
          <a:ln w="1778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22392" y="2039112"/>
            <a:ext cx="1298448" cy="1426464"/>
          </a:xfrm>
          <a:prstGeom prst="roundRect">
            <a:avLst>
              <a:gd name="adj" fmla="val 8451"/>
            </a:avLst>
          </a:prstGeom>
          <a:solidFill>
            <a:srgbClr val="FFF2D6"/>
          </a:solidFill>
          <a:ln w="12700">
            <a:solidFill>
              <a:srgbClr val="F5C76D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68696" y="2194560"/>
            <a:ext cx="393192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68696" y="2203704"/>
            <a:ext cx="393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559552" y="257860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身份路由</a:t>
            </a:r>
            <a:endParaRPr lang="en-US" sz="1220" dirty="0"/>
          </a:p>
        </p:txBody>
      </p:sp>
      <p:sp>
        <p:nvSpPr>
          <p:cNvPr id="31" name="Text 29"/>
          <p:cNvSpPr txBox="1"/>
          <p:nvPr/>
        </p:nvSpPr>
        <p:spPr>
          <a:xfrm>
            <a:off x="5559552" y="3090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 / body / gait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729984" y="2761488"/>
            <a:ext cx="256032" cy="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022592" y="2039112"/>
            <a:ext cx="1298448" cy="1426464"/>
          </a:xfrm>
          <a:prstGeom prst="roundRect">
            <a:avLst>
              <a:gd name="adj" fmla="val 8451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68896" y="2194560"/>
            <a:ext cx="393192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68896" y="2203704"/>
            <a:ext cx="393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159752" y="257860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事件分窗</a:t>
            </a:r>
            <a:endParaRPr lang="en-US" sz="1220" dirty="0"/>
          </a:p>
        </p:txBody>
      </p:sp>
      <p:sp>
        <p:nvSpPr>
          <p:cNvPr id="37" name="Text 35"/>
          <p:cNvSpPr txBox="1"/>
          <p:nvPr/>
        </p:nvSpPr>
        <p:spPr>
          <a:xfrm>
            <a:off x="7159752" y="3090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330184" y="2761488"/>
            <a:ext cx="256032" cy="0"/>
          </a:xfrm>
          <a:prstGeom prst="line">
            <a:avLst/>
          </a:prstGeom>
          <a:noFill/>
          <a:ln w="1778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622792" y="2039112"/>
            <a:ext cx="1298448" cy="1426464"/>
          </a:xfrm>
          <a:prstGeom prst="roundRect">
            <a:avLst>
              <a:gd name="adj" fmla="val 8451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769096" y="2194560"/>
            <a:ext cx="393192" cy="283464"/>
          </a:xfrm>
          <a:prstGeom prst="round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69096" y="2203704"/>
            <a:ext cx="393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759952" y="257860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grounding + LLM</a:t>
            </a:r>
            <a:endParaRPr lang="en-US" sz="1220" dirty="0"/>
          </a:p>
        </p:txBody>
      </p:sp>
      <p:sp>
        <p:nvSpPr>
          <p:cNvPr id="43" name="Text 41"/>
          <p:cNvSpPr txBox="1"/>
          <p:nvPr/>
        </p:nvSpPr>
        <p:spPr>
          <a:xfrm>
            <a:off x="8759952" y="3090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 JSON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9930384" y="2761488"/>
            <a:ext cx="256032" cy="0"/>
          </a:xfrm>
          <a:prstGeom prst="line">
            <a:avLst/>
          </a:prstGeom>
          <a:noFill/>
          <a:ln w="1778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222992" y="2039112"/>
            <a:ext cx="1298448" cy="1426464"/>
          </a:xfrm>
          <a:prstGeom prst="roundRect">
            <a:avLst>
              <a:gd name="adj" fmla="val 8451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0369296" y="2194560"/>
            <a:ext cx="393192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369296" y="2203704"/>
            <a:ext cx="393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360152" y="257860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 / 报告</a:t>
            </a:r>
            <a:endParaRPr lang="en-US" sz="1220" dirty="0"/>
          </a:p>
        </p:txBody>
      </p:sp>
      <p:sp>
        <p:nvSpPr>
          <p:cNvPr id="49" name="Text 47"/>
          <p:cNvSpPr txBox="1"/>
          <p:nvPr/>
        </p:nvSpPr>
        <p:spPr>
          <a:xfrm>
            <a:off x="10360152" y="3090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/ API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621792" y="3977640"/>
            <a:ext cx="6473952" cy="1508760"/>
          </a:xfrm>
          <a:prstGeom prst="roundRect">
            <a:avLst>
              <a:gd name="adj" fmla="val 7273"/>
            </a:avLst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886968" y="4215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/ fallback 不是异常分支，而是产品规则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86968" y="4681728"/>
            <a:ext cx="1170432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86968" y="4690872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 unusable</a:t>
            </a:r>
            <a:endParaRPr lang="en-US" sz="880" dirty="0"/>
          </a:p>
        </p:txBody>
      </p:sp>
      <p:sp>
        <p:nvSpPr>
          <p:cNvPr id="54" name="Text 52"/>
          <p:cNvSpPr txBox="1"/>
          <p:nvPr/>
        </p:nvSpPr>
        <p:spPr>
          <a:xfrm>
            <a:off x="886968" y="500176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B7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拒绝人脸身份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2404872" y="4681728"/>
            <a:ext cx="1170432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404872" y="4690872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脸不可见</a:t>
            </a:r>
            <a:endParaRPr lang="en-US" sz="880" dirty="0"/>
          </a:p>
        </p:txBody>
      </p:sp>
      <p:sp>
        <p:nvSpPr>
          <p:cNvPr id="57" name="Text 55"/>
          <p:cNvSpPr txBox="1"/>
          <p:nvPr/>
        </p:nvSpPr>
        <p:spPr>
          <a:xfrm>
            <a:off x="2404872" y="500176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B7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 Body / Gait</a:t>
            </a:r>
            <a:endParaRPr lang="en-US" sz="940" dirty="0"/>
          </a:p>
        </p:txBody>
      </p:sp>
      <p:sp>
        <p:nvSpPr>
          <p:cNvPr id="58" name="Shape 56"/>
          <p:cNvSpPr/>
          <p:nvPr/>
        </p:nvSpPr>
        <p:spPr>
          <a:xfrm>
            <a:off x="3922776" y="4681728"/>
            <a:ext cx="1170432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922776" y="4690872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不调用 LLM</a:t>
            </a:r>
            <a:endParaRPr lang="en-US" sz="880" dirty="0"/>
          </a:p>
        </p:txBody>
      </p:sp>
      <p:sp>
        <p:nvSpPr>
          <p:cNvPr id="60" name="Text 58"/>
          <p:cNvSpPr txBox="1"/>
          <p:nvPr/>
        </p:nvSpPr>
        <p:spPr>
          <a:xfrm>
            <a:off x="3922776" y="500176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B7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dry-run 留存 CV</a:t>
            </a:r>
            <a:endParaRPr lang="en-US" sz="940" dirty="0"/>
          </a:p>
        </p:txBody>
      </p:sp>
      <p:sp>
        <p:nvSpPr>
          <p:cNvPr id="61" name="Shape 59"/>
          <p:cNvSpPr/>
          <p:nvPr/>
        </p:nvSpPr>
        <p:spPr>
          <a:xfrm>
            <a:off x="5440680" y="4681728"/>
            <a:ext cx="1170432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440680" y="4690872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后续补全</a:t>
            </a:r>
            <a:endParaRPr lang="en-US" sz="880" dirty="0"/>
          </a:p>
        </p:txBody>
      </p:sp>
      <p:sp>
        <p:nvSpPr>
          <p:cNvPr id="63" name="Text 61"/>
          <p:cNvSpPr txBox="1"/>
          <p:nvPr/>
        </p:nvSpPr>
        <p:spPr>
          <a:xfrm>
            <a:off x="5440680" y="500176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B7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/complete</a:t>
            </a:r>
            <a:endParaRPr lang="en-US" sz="940" dirty="0"/>
          </a:p>
        </p:txBody>
      </p:sp>
      <p:sp>
        <p:nvSpPr>
          <p:cNvPr id="64" name="Shape 62"/>
          <p:cNvSpPr/>
          <p:nvPr/>
        </p:nvSpPr>
        <p:spPr>
          <a:xfrm>
            <a:off x="7370064" y="3977640"/>
            <a:ext cx="4242816" cy="1508760"/>
          </a:xfrm>
          <a:prstGeom prst="roundRect">
            <a:avLst>
              <a:gd name="adj" fmla="val 7273"/>
            </a:avLst>
          </a:prstGeom>
          <a:solidFill>
            <a:srgbClr val="DDF7F7"/>
          </a:solidFill>
          <a:ln w="12700">
            <a:solidFill>
              <a:srgbClr val="B7E8E8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7653528" y="4224528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8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串行化 POC</a:t>
            </a:r>
            <a:endParaRPr lang="en-US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7653528" y="4590288"/>
            <a:ext cx="36210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当前事件分析请求串行执行，避免请求级模型设置与身份状态相互干扰。</a:t>
            </a:r>
            <a:endParaRPr lang="en-US" sz="1130" dirty="0"/>
          </a:p>
        </p:txBody>
      </p:sp>
      <p:sp>
        <p:nvSpPr>
          <p:cNvPr id="67" name="Shape 65"/>
          <p:cNvSpPr/>
          <p:nvPr/>
        </p:nvSpPr>
        <p:spPr>
          <a:xfrm>
            <a:off x="10168128" y="4206240"/>
            <a:ext cx="960120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168128" y="421538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显式限制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512064" y="6089904"/>
            <a:ext cx="10332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8492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证据：README.md API / Reproducibility；CODE_MAP.md</a:t>
            </a:r>
            <a:endParaRPr lang="en-US" sz="740" dirty="0"/>
          </a:p>
        </p:txBody>
      </p:sp>
      <p:sp>
        <p:nvSpPr>
          <p:cNvPr id="70" name="Text 68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9AA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71" name="Text 69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48132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38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OWNERSHIP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5895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我的贡献：把“模型试验”做成“产品决策链”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7101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仓库与统一报告可确认的工作边界；平台与预训练模型明确列为复用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1080000">
            <a:off x="10588752" y="-502920"/>
            <a:ext cx="2057400" cy="2057400"/>
          </a:xfrm>
          <a:prstGeom prst="arc">
            <a:avLst/>
          </a:prstGeom>
          <a:solidFill>
            <a:srgbClr val="D8E8EE">
              <a:alpha val="0"/>
            </a:srgbClr>
          </a:solidFill>
          <a:ln w="13970">
            <a:solidFill>
              <a:srgbClr val="D8E8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4572" y="370332"/>
            <a:ext cx="100584" cy="100584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20624"/>
            <a:ext cx="658368" cy="0"/>
          </a:xfrm>
          <a:prstGeom prst="line">
            <a:avLst/>
          </a:prstGeom>
          <a:noFill/>
          <a:ln w="8890">
            <a:solidFill>
              <a:srgbClr val="BFD3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30352" y="1700784"/>
            <a:ext cx="2331720" cy="4315968"/>
          </a:xfrm>
          <a:prstGeom prst="roundRect">
            <a:avLst>
              <a:gd name="adj" fmla="val 4706"/>
            </a:avLst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" y="19659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我负责的主线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04672" y="2542032"/>
            <a:ext cx="402336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551176"/>
            <a:ext cx="402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53288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05840" y="2852928"/>
            <a:ext cx="0" cy="256032"/>
          </a:xfrm>
          <a:prstGeom prst="line">
            <a:avLst/>
          </a:prstGeom>
          <a:noFill/>
          <a:ln w="12700">
            <a:solidFill>
              <a:srgbClr val="48647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04672" y="3127248"/>
            <a:ext cx="402336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136392"/>
            <a:ext cx="402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118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工程接入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05840" y="3438144"/>
            <a:ext cx="0" cy="256032"/>
          </a:xfrm>
          <a:prstGeom prst="line">
            <a:avLst/>
          </a:prstGeom>
          <a:noFill/>
          <a:ln w="12700">
            <a:solidFill>
              <a:srgbClr val="48647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04672" y="3712464"/>
            <a:ext cx="402336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721608"/>
            <a:ext cx="402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7033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冻结实验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05840" y="4023360"/>
            <a:ext cx="0" cy="256032"/>
          </a:xfrm>
          <a:prstGeom prst="line">
            <a:avLst/>
          </a:prstGeom>
          <a:noFill/>
          <a:ln w="12700">
            <a:solidFill>
              <a:srgbClr val="48647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04672" y="4297680"/>
            <a:ext cx="402336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4306824"/>
            <a:ext cx="402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28853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云端执行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05840" y="4608576"/>
            <a:ext cx="0" cy="256032"/>
          </a:xfrm>
          <a:prstGeom prst="line">
            <a:avLst/>
          </a:prstGeom>
          <a:noFill/>
          <a:ln w="12700">
            <a:solidFill>
              <a:srgbClr val="48647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04672" y="4882896"/>
            <a:ext cx="402336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" y="4892040"/>
            <a:ext cx="402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48737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结论回灌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127248" y="1709928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1874520"/>
            <a:ext cx="960120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91840" y="188366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产品工程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6412" y="2418588"/>
            <a:ext cx="82296" cy="82296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56432" y="2304288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eligibility 拆分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3296412" y="2766060"/>
            <a:ext cx="82296" cy="82296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56432" y="2651760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face-best 与 body-best 分离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3296412" y="3113532"/>
            <a:ext cx="82296" cy="82296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56432" y="2999232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ReID / 超分统一注册与 API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5980176" y="1709928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44768" y="1874520"/>
            <a:ext cx="960120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44768" y="188366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实验工程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49340" y="24185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09360" y="2304288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manifest 与 protocol hash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6149340" y="276606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09360" y="2651760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四后端统一 runner / 汇总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6149340" y="31135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09360" y="2999232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provenance、缓存与失败校验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8833104" y="1709928"/>
            <a:ext cx="2788920" cy="18288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997696" y="1874520"/>
            <a:ext cx="960120" cy="283464"/>
          </a:xfrm>
          <a:prstGeom prst="round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997696" y="188366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云端与交付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002268" y="2418588"/>
            <a:ext cx="82296" cy="82296"/>
          </a:xfrm>
          <a:prstGeom prst="ellipse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162288" y="2304288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镜像分层构建</a:t>
            </a:r>
            <a:endParaRPr lang="en-US" sz="1120" dirty="0"/>
          </a:p>
        </p:txBody>
      </p:sp>
      <p:sp>
        <p:nvSpPr>
          <p:cNvPr id="53" name="Shape 51"/>
          <p:cNvSpPr/>
          <p:nvPr/>
        </p:nvSpPr>
        <p:spPr>
          <a:xfrm>
            <a:off x="9002268" y="2766060"/>
            <a:ext cx="82296" cy="82296"/>
          </a:xfrm>
          <a:prstGeom prst="ellipse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162288" y="2651760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VM 容器部署与健康回滚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9002268" y="3113532"/>
            <a:ext cx="82296" cy="82296"/>
          </a:xfrm>
          <a:prstGeom prst="ellipse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162288" y="2999232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 → 默认候选 / 回退策略</a:t>
            </a:r>
            <a:endParaRPr lang="en-US" sz="1120" dirty="0"/>
          </a:p>
        </p:txBody>
      </p:sp>
      <p:sp>
        <p:nvSpPr>
          <p:cNvPr id="57" name="Shape 55"/>
          <p:cNvSpPr/>
          <p:nvPr/>
        </p:nvSpPr>
        <p:spPr>
          <a:xfrm>
            <a:off x="3127248" y="3840480"/>
            <a:ext cx="8494776" cy="1618488"/>
          </a:xfrm>
          <a:prstGeom prst="roundRect">
            <a:avLst>
              <a:gd name="adj" fmla="val 6780"/>
            </a:avLst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355848" y="4096512"/>
            <a:ext cx="960120" cy="283464"/>
          </a:xfrm>
          <a:prstGeom prst="roundRect">
            <a:avLst/>
          </a:prstGeom>
          <a:solidFill>
            <a:srgbClr val="58697C"/>
          </a:solidFill>
          <a:ln w="12700">
            <a:solidFill>
              <a:srgbClr val="58697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355848" y="4105656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明确复用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3364992" y="45445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预训练模型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3364992" y="4809744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 / ArcFace / CLIP-ReID / SigLIP2 / DIFFER</a:t>
            </a:r>
            <a:endParaRPr lang="en-US" sz="1040" dirty="0"/>
          </a:p>
        </p:txBody>
      </p:sp>
      <p:sp>
        <p:nvSpPr>
          <p:cNvPr id="62" name="Text 60"/>
          <p:cNvSpPr txBox="1"/>
          <p:nvPr/>
        </p:nvSpPr>
        <p:spPr>
          <a:xfrm>
            <a:off x="6035040" y="45445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云平台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6035040" y="4809744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GPU VM / ACR / Azure OpenAI</a:t>
            </a:r>
            <a:endParaRPr lang="en-US" sz="1040" dirty="0"/>
          </a:p>
        </p:txBody>
      </p:sp>
      <p:sp>
        <p:nvSpPr>
          <p:cNvPr id="64" name="Text 62"/>
          <p:cNvSpPr txBox="1"/>
          <p:nvPr/>
        </p:nvSpPr>
        <p:spPr>
          <a:xfrm>
            <a:off x="8705088" y="45445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公开数据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8705088" y="4809744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MEVID 官方划分与元数据</a:t>
            </a:r>
            <a:endParaRPr lang="en-US" sz="1040" dirty="0"/>
          </a:p>
        </p:txBody>
      </p:sp>
      <p:sp>
        <p:nvSpPr>
          <p:cNvPr id="66" name="Shape 64"/>
          <p:cNvSpPr/>
          <p:nvPr/>
        </p:nvSpPr>
        <p:spPr>
          <a:xfrm>
            <a:off x="3346704" y="5605272"/>
            <a:ext cx="4800600" cy="283464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346704" y="5614416"/>
            <a:ext cx="4800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边界：模型训练数据、客户业务收益、生产并发未在本仓库中证明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512064" y="6089904"/>
            <a:ext cx="10332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8492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证据：CODE_MAP.md；README.md；统一报告 §8、§13–18</a:t>
            </a:r>
            <a:endParaRPr lang="en-US" sz="740" dirty="0"/>
          </a:p>
        </p:txBody>
      </p:sp>
      <p:sp>
        <p:nvSpPr>
          <p:cNvPr id="69" name="Text 67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9AA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70" name="Text 68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48132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38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CLOUD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5895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落地：当前实际是单 VM GPU + Docker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7101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阶段选择最短闭环，不把历史 AKS 设计包装成现状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1080000">
            <a:off x="10588752" y="-502920"/>
            <a:ext cx="2057400" cy="2057400"/>
          </a:xfrm>
          <a:prstGeom prst="arc">
            <a:avLst/>
          </a:prstGeom>
          <a:solidFill>
            <a:srgbClr val="D8E8EE">
              <a:alpha val="0"/>
            </a:srgbClr>
          </a:solidFill>
          <a:ln w="13970">
            <a:solidFill>
              <a:srgbClr val="D8E8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4572" y="370332"/>
            <a:ext cx="100584" cy="100584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20624"/>
            <a:ext cx="658368" cy="0"/>
          </a:xfrm>
          <a:prstGeom prst="line">
            <a:avLst/>
          </a:prstGeom>
          <a:noFill/>
          <a:ln w="8890">
            <a:solidFill>
              <a:srgbClr val="BFD3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30352" y="1828800"/>
            <a:ext cx="1920240" cy="3639312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039112"/>
            <a:ext cx="676656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048256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" y="2542032"/>
            <a:ext cx="1344168" cy="283464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" y="2551176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97180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依赖层按 Dockerfile + requirements 内容哈希复用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90472" y="3730752"/>
            <a:ext cx="0" cy="310896"/>
          </a:xfrm>
          <a:prstGeom prst="line">
            <a:avLst/>
          </a:prstGeom>
          <a:noFill/>
          <a:ln w="2286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" y="4096512"/>
            <a:ext cx="1508760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105656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Container Registry</a:t>
            </a:r>
            <a:endParaRPr lang="en-US" sz="91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53542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: commit SHA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→ :main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68880" y="3639312"/>
            <a:ext cx="438912" cy="0"/>
          </a:xfrm>
          <a:prstGeom prst="line">
            <a:avLst/>
          </a:prstGeom>
          <a:noFill/>
          <a:ln w="2286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80360" y="1737360"/>
            <a:ext cx="5047488" cy="3886200"/>
          </a:xfrm>
          <a:prstGeom prst="roundRect">
            <a:avLst>
              <a:gd name="adj" fmla="val 2824"/>
            </a:avLst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1993392"/>
            <a:ext cx="1417320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82112" y="200253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 / ACTUAL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182112" y="240487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GPU Spot VM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3182112" y="2834640"/>
            <a:ext cx="4270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FC2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NC4as_T4_v3 · Ubuntu · NVIDIA Container Toolkit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91256" y="3355848"/>
            <a:ext cx="4425696" cy="1243584"/>
          </a:xfrm>
          <a:prstGeom prst="roundRect">
            <a:avLst>
              <a:gd name="adj" fmla="val 8824"/>
            </a:avLst>
          </a:prstGeom>
          <a:solidFill>
            <a:srgbClr val="162B45"/>
          </a:solidFill>
          <a:ln w="12700">
            <a:solidFill>
              <a:srgbClr val="2F4A64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438144" y="3557016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D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· monolithic FastAPI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38144" y="39684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C7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/ API + detection + identity + experiment runtime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3246120" y="4818888"/>
            <a:ext cx="2157984" cy="283464"/>
          </a:xfrm>
          <a:prstGeom prst="round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46120" y="4828032"/>
            <a:ext cx="2157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health check → failure rollback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568696" y="4818888"/>
            <a:ext cx="1920240" cy="283464"/>
          </a:xfrm>
          <a:prstGeom prst="roundRect">
            <a:avLst/>
          </a:prstGeom>
          <a:solidFill>
            <a:srgbClr val="7957D5"/>
          </a:solidFill>
          <a:ln w="12700">
            <a:solidFill>
              <a:srgbClr val="7957D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68696" y="48280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managed identity pulls ACR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247888" y="1828800"/>
            <a:ext cx="3401568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94776" y="2039112"/>
            <a:ext cx="786384" cy="283464"/>
          </a:xfrm>
          <a:prstGeom prst="roundRect">
            <a:avLst/>
          </a:prstGeom>
          <a:solidFill>
            <a:srgbClr val="078A94"/>
          </a:solidFill>
          <a:ln w="12700">
            <a:solidFill>
              <a:srgbClr val="078A9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94776" y="2048256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PERSIST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522208" y="2432304"/>
            <a:ext cx="2532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 OS Disk 持久目录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13064" y="2889504"/>
            <a:ext cx="1115568" cy="283464"/>
          </a:xfrm>
          <a:prstGeom prst="round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13064" y="2898648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/models · RO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9838944" y="2889504"/>
            <a:ext cx="1115568" cy="283464"/>
          </a:xfrm>
          <a:prstGeom prst="round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838944" y="2898648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/data · RO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513064" y="3328416"/>
            <a:ext cx="1115568" cy="283464"/>
          </a:xfrm>
          <a:prstGeom prst="roundRect">
            <a:avLst/>
          </a:prstGeom>
          <a:solidFill>
            <a:srgbClr val="E4F7EF"/>
          </a:solidFill>
          <a:ln w="12700">
            <a:solidFill>
              <a:srgbClr val="E4F7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13064" y="3337560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8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/gallery · RW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9838944" y="3328416"/>
            <a:ext cx="1115568" cy="283464"/>
          </a:xfrm>
          <a:prstGeom prst="roundRect">
            <a:avLst/>
          </a:prstGeom>
          <a:solidFill>
            <a:srgbClr val="E4F7EF"/>
          </a:solidFill>
          <a:ln w="12700">
            <a:solidFill>
              <a:srgbClr val="E4F7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838944" y="3337560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8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/results · RW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247888" y="4133088"/>
            <a:ext cx="3401568" cy="1335024"/>
          </a:xfrm>
          <a:prstGeom prst="roundRect">
            <a:avLst>
              <a:gd name="adj" fmla="val 8219"/>
            </a:avLst>
          </a:prstGeom>
          <a:solidFill>
            <a:srgbClr val="FFF2D6"/>
          </a:solidFill>
          <a:ln w="12700">
            <a:solidFill>
              <a:srgbClr val="F6D68F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8513064" y="4361688"/>
            <a:ext cx="2615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OpenAI / Foundry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8513064" y="4736592"/>
            <a:ext cx="2688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视觉模型部署生成事件报告；endpoint / key 由环境注入，不进镜像。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7909560" y="3822192"/>
            <a:ext cx="338328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242816" y="5852160"/>
            <a:ext cx="2788920" cy="283464"/>
          </a:xfrm>
          <a:prstGeom prst="round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42816" y="586130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AKS：历史方案 / 未来多用户演进</a:t>
            </a:r>
            <a:endParaRPr lang="en-US" sz="970" dirty="0"/>
          </a:p>
        </p:txBody>
      </p:sp>
      <p:sp>
        <p:nvSpPr>
          <p:cNvPr id="50" name="Text 48"/>
          <p:cNvSpPr txBox="1"/>
          <p:nvPr/>
        </p:nvSpPr>
        <p:spPr>
          <a:xfrm>
            <a:off x="512064" y="6089904"/>
            <a:ext cx="10332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8492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证据：docs/cloud-deploy/README.md（当前单 VM）；GitHub build / deploy workflows</a:t>
            </a:r>
            <a:endParaRPr lang="en-US" sz="740" dirty="0"/>
          </a:p>
        </p:txBody>
      </p:sp>
      <p:sp>
        <p:nvSpPr>
          <p:cNvPr id="51" name="Text 49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9AA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52" name="Text 50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48132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38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ENGINEERING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5895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可复现性不是附录，而是系统能力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7101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同一产品接口、同一冻结数据、同一运行环境，输出可审计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1080000">
            <a:off x="10588752" y="-502920"/>
            <a:ext cx="2057400" cy="2057400"/>
          </a:xfrm>
          <a:prstGeom prst="arc">
            <a:avLst/>
          </a:prstGeom>
          <a:solidFill>
            <a:srgbClr val="D8E8EE">
              <a:alpha val="0"/>
            </a:srgbClr>
          </a:solidFill>
          <a:ln w="13970">
            <a:solidFill>
              <a:srgbClr val="D8E8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4572" y="370332"/>
            <a:ext cx="100584" cy="100584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20624"/>
            <a:ext cx="658368" cy="0"/>
          </a:xfrm>
          <a:prstGeom prst="line">
            <a:avLst/>
          </a:prstGeom>
          <a:noFill/>
          <a:ln w="8890">
            <a:solidFill>
              <a:srgbClr val="BFD3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672584" y="2057400"/>
            <a:ext cx="2788920" cy="1901952"/>
          </a:xfrm>
          <a:prstGeom prst="hexagon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9784" y="2441448"/>
            <a:ext cx="1874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FROZEN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PROTOCOL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5138928" y="324612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1D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 + protocol_id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21792" y="1810512"/>
            <a:ext cx="1965960" cy="1078992"/>
          </a:xfrm>
          <a:prstGeom prst="roundRect">
            <a:avLst>
              <a:gd name="adj" fmla="val 10169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1956816"/>
            <a:ext cx="832104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1965960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2322576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/ GPU 镜像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模型不进 Git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2606040" y="2350008"/>
            <a:ext cx="1965960" cy="658368"/>
          </a:xfrm>
          <a:prstGeom prst="line">
            <a:avLst/>
          </a:prstGeom>
          <a:noFill/>
          <a:ln w="1397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" y="4151376"/>
            <a:ext cx="1965960" cy="1078992"/>
          </a:xfrm>
          <a:prstGeom prst="roundRect">
            <a:avLst>
              <a:gd name="adj" fmla="val 10169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297680"/>
            <a:ext cx="832104" cy="283464"/>
          </a:xfrm>
          <a:prstGeom prst="roundRect">
            <a:avLst/>
          </a:prstGeom>
          <a:solidFill>
            <a:srgbClr val="7957D5"/>
          </a:solidFill>
          <a:ln w="12700">
            <a:solidFill>
              <a:srgbClr val="7957D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306824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统一接口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" y="4663440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active_backend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embed_dim / embed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 flipV="1">
            <a:off x="190877" y="2077653"/>
            <a:ext cx="1965960" cy="1682496"/>
          </a:xfrm>
          <a:prstGeom prst="line">
            <a:avLst/>
          </a:prstGeom>
          <a:noFill/>
          <a:ln w="13970">
            <a:solidFill>
              <a:srgbClr val="7957D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962656" y="4773168"/>
            <a:ext cx="1965960" cy="1078992"/>
          </a:xfrm>
          <a:prstGeom prst="roundRect">
            <a:avLst>
              <a:gd name="adj" fmla="val 10169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18104" y="4919472"/>
            <a:ext cx="832104" cy="283464"/>
          </a:xfrm>
          <a:prstGeom prst="round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18104" y="4928616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失败可见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127248" y="5285232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 silent fallback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产物非空校验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 flipH="1" flipV="1">
            <a:off x="4572000" y="3008376"/>
            <a:ext cx="374904" cy="2304288"/>
          </a:xfrm>
          <a:prstGeom prst="line">
            <a:avLst/>
          </a:prstGeom>
          <a:noFill/>
          <a:ln w="13970">
            <a:solidFill>
              <a:srgbClr val="E24A4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818120" y="4773168"/>
            <a:ext cx="1965960" cy="1078992"/>
          </a:xfrm>
          <a:prstGeom prst="roundRect">
            <a:avLst>
              <a:gd name="adj" fmla="val 10169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73568" y="4919472"/>
            <a:ext cx="832104" cy="283464"/>
          </a:xfrm>
          <a:prstGeom prst="round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73568" y="4928616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缓存可绑定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982712" y="5285232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protocol / device /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provenance / order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 flipH="1" flipV="1">
            <a:off x="7562088" y="3008376"/>
            <a:ext cx="237744" cy="2304288"/>
          </a:xfrm>
          <a:prstGeom prst="line">
            <a:avLst/>
          </a:prstGeom>
          <a:noFill/>
          <a:ln w="13970">
            <a:solidFill>
              <a:srgbClr val="18A66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582912" y="4151376"/>
            <a:ext cx="1965960" cy="1078992"/>
          </a:xfrm>
          <a:prstGeom prst="roundRect">
            <a:avLst>
              <a:gd name="adj" fmla="val 10169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38360" y="4297680"/>
            <a:ext cx="832104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38360" y="4306824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完整留痕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747504" y="4663440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 SHA / revision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commit / 环境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 flipH="1" flipV="1">
            <a:off x="7562088" y="3008376"/>
            <a:ext cx="2002536" cy="1682496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582912" y="1810512"/>
            <a:ext cx="1965960" cy="1078992"/>
          </a:xfrm>
          <a:prstGeom prst="roundRect">
            <a:avLst>
              <a:gd name="adj" fmla="val 10169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738360" y="1956816"/>
            <a:ext cx="832104" cy="283464"/>
          </a:xfrm>
          <a:prstGeom prst="roundRect">
            <a:avLst/>
          </a:prstGeom>
          <a:solidFill>
            <a:srgbClr val="078A94"/>
          </a:solidFill>
          <a:ln w="12700">
            <a:solidFill>
              <a:srgbClr val="078A9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738360" y="1965960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实验入口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747504" y="2322576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freeze → smoke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 → summarize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 flipH="1">
            <a:off x="7562088" y="2350008"/>
            <a:ext cx="2002536" cy="658368"/>
          </a:xfrm>
          <a:prstGeom prst="line">
            <a:avLst/>
          </a:prstGeom>
          <a:noFill/>
          <a:ln w="13970">
            <a:solidFill>
              <a:srgbClr val="078A9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889504" y="1700784"/>
            <a:ext cx="1463040" cy="941832"/>
          </a:xfrm>
          <a:prstGeom prst="roundRect">
            <a:avLst>
              <a:gd name="adj" fmla="val 11650"/>
            </a:avLst>
          </a:prstGeom>
          <a:solidFill>
            <a:srgbClr val="DDF7F7"/>
          </a:solidFill>
          <a:ln w="12700">
            <a:solidFill>
              <a:srgbClr val="BDE5E7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2953512" y="184708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78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6,503</a:t>
            </a:r>
            <a:endParaRPr lang="en-US" sz="2800" dirty="0"/>
          </a:p>
        </p:txBody>
      </p:sp>
      <p:sp>
        <p:nvSpPr>
          <p:cNvPr id="44" name="Text 42"/>
          <p:cNvSpPr txBox="1"/>
          <p:nvPr/>
        </p:nvSpPr>
        <p:spPr>
          <a:xfrm>
            <a:off x="2953512" y="233172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冻结样本帧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754112" y="1700784"/>
            <a:ext cx="1463040" cy="941832"/>
          </a:xfrm>
          <a:prstGeom prst="roundRect">
            <a:avLst>
              <a:gd name="adj" fmla="val 11650"/>
            </a:avLst>
          </a:prstGeom>
          <a:solidFill>
            <a:srgbClr val="FFF2D6"/>
          </a:solidFill>
          <a:ln w="12700">
            <a:solidFill>
              <a:srgbClr val="F7D999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7818120" y="184708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800" dirty="0"/>
          </a:p>
        </p:txBody>
      </p:sp>
      <p:sp>
        <p:nvSpPr>
          <p:cNvPr id="47" name="Text 45"/>
          <p:cNvSpPr txBox="1"/>
          <p:nvPr/>
        </p:nvSpPr>
        <p:spPr>
          <a:xfrm>
            <a:off x="7818120" y="233172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产品后端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913632" y="4169664"/>
            <a:ext cx="4334256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913632" y="4178808"/>
            <a:ext cx="4334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protocol id / manifest SHA-256 / final JSON SHA-256 均已记录</a:t>
            </a:r>
            <a:endParaRPr lang="en-US" sz="960" dirty="0"/>
          </a:p>
        </p:txBody>
      </p:sp>
      <p:sp>
        <p:nvSpPr>
          <p:cNvPr id="50" name="Text 48"/>
          <p:cNvSpPr txBox="1"/>
          <p:nvPr/>
        </p:nvSpPr>
        <p:spPr>
          <a:xfrm>
            <a:off x="512064" y="6089904"/>
            <a:ext cx="10332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8492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证据：experiment/body_reid/experiment_plan.md；统一报告 §12–15、审计信息</a:t>
            </a:r>
            <a:endParaRPr lang="en-US" sz="740" dirty="0"/>
          </a:p>
        </p:txBody>
      </p:sp>
      <p:sp>
        <p:nvSpPr>
          <p:cNvPr id="51" name="Text 49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9AA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52" name="Text 50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48132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38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 b="1" sz="1000">
                <a:solidFill>
                  <a:srgbClr val="FFFFFF"/>
                </a:solidFill>
                <a:latin typeface="Microsoft YaHei"/>
                <a:ea typeface="Microsoft YaHei" pitchFamily="34" charset="-122"/>
                <a:cs typeface="Microsoft YaHei" pitchFamily="34" charset="-120"/>
              </a:rPr>
              <a:t>08  OPTIMIZATION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58952"/>
            <a:ext cx="80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 b="1" sz="2800">
                <a:solidFill>
                  <a:srgbClr val="091426"/>
                </a:solidFill>
                <a:latin typeface="Microsoft YaHei"/>
                <a:ea typeface="Microsoft YaHei" pitchFamily="34" charset="-122"/>
                <a:cs typeface="Microsoft YaHei" pitchFamily="34" charset="-120"/>
              </a:rPr>
              <a:t>LLM 证据序列化：更少字符，保留更多上下文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71016"/>
            <a:ext cx="745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 sz="1250">
                <a:solidFill>
                  <a:srgbClr val="58697C"/>
                </a:solidFill>
                <a:latin typeface="Microsoft YaHei"/>
                <a:ea typeface="Microsoft YaHei" pitchFamily="34" charset="-122"/>
                <a:cs typeface="Microsoft YaHei" pitchFamily="34" charset="-120"/>
              </a:rPr>
              <a:t>在覆盖 6 个事件窗、约 5 分钟时间轴的代表性自动化测试中，LLM 证据序列化从 8,636 个字符的压缩 JSON 降至 3,878 个字符的紧凑表格化证据，减少 55.1%。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1080000">
            <a:off x="10588752" y="-502920"/>
            <a:ext cx="2057400" cy="2057400"/>
          </a:xfrm>
          <a:prstGeom prst="arc">
            <a:avLst/>
          </a:prstGeom>
          <a:solidFill>
            <a:srgbClr val="D8E8EE">
              <a:alpha val="0"/>
            </a:srgbClr>
          </a:solidFill>
          <a:ln w="13970">
            <a:solidFill>
              <a:srgbClr val="D8E8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4572" y="370332"/>
            <a:ext cx="100584" cy="100584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20624"/>
            <a:ext cx="658368" cy="0"/>
          </a:xfrm>
          <a:prstGeom prst="line">
            <a:avLst/>
          </a:prstGeom>
          <a:noFill/>
          <a:ln w="8890">
            <a:solidFill>
              <a:srgbClr val="BFD3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672584" y="2057400"/>
            <a:ext cx="2788920" cy="1901952"/>
          </a:xfrm>
          <a:prstGeom prst="hexagon">
            <a:avLst/>
          </a:prstGeom>
          <a:noFill/>
          <a:ln>
            <a:noFill/>
          </a:ln>
        </p:spPr>
      </p:sp>
      <p:sp>
        <p:nvSpPr>
          <p:cNvPr id="10" name="Text 8"/>
          <p:cNvSpPr txBox="1"/>
          <p:nvPr/>
        </p:nvSpPr>
        <p:spPr>
          <a:xfrm>
            <a:off x="5129784" y="2441448"/>
            <a:ext cx="1874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5138928" y="324612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1D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21792" y="1810512"/>
            <a:ext cx="1965960" cy="1078992"/>
          </a:xfrm>
          <a:prstGeom prst="roundRect">
            <a:avLst>
              <a:gd name="adj" fmla="val 10169"/>
            </a:avLst>
          </a:prstGeom>
          <a:noFill/>
          <a:ln>
            <a:noFill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1956816"/>
            <a:ext cx="832104" cy="283464"/>
          </a:xfrm>
          <a:prstGeom prst="roundRect">
            <a:avLst/>
          </a:prstGeom>
          <a:noFill/>
          <a:ln>
            <a:noFill/>
          </a:ln>
        </p:spPr>
      </p:sp>
      <p:sp>
        <p:nvSpPr>
          <p:cNvPr id="14" name="Text 12"/>
          <p:cNvSpPr txBox="1"/>
          <p:nvPr/>
        </p:nvSpPr>
        <p:spPr>
          <a:xfrm>
            <a:off x="777240" y="1965960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2322576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2606040" y="2350008"/>
            <a:ext cx="1965960" cy="658368"/>
          </a:xfrm>
          <a:prstGeom prst="line">
            <a:avLst/>
          </a:prstGeom>
          <a:noFill/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621792" y="4151376"/>
            <a:ext cx="1965960" cy="1078992"/>
          </a:xfrm>
          <a:prstGeom prst="roundRect">
            <a:avLst>
              <a:gd name="adj" fmla="val 10169"/>
            </a:avLst>
          </a:prstGeom>
          <a:noFill/>
          <a:ln>
            <a:noFill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297680"/>
            <a:ext cx="832104" cy="283464"/>
          </a:xfrm>
          <a:prstGeom prst="roundRect">
            <a:avLst/>
          </a:prstGeom>
          <a:noFill/>
          <a:ln>
            <a:noFill/>
          </a:ln>
        </p:spPr>
      </p:sp>
      <p:sp>
        <p:nvSpPr>
          <p:cNvPr id="19" name="Text 17"/>
          <p:cNvSpPr txBox="1"/>
          <p:nvPr/>
        </p:nvSpPr>
        <p:spPr>
          <a:xfrm>
            <a:off x="777240" y="4306824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" y="4663440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 flipV="1">
            <a:off x="190877" y="2077653"/>
            <a:ext cx="1965960" cy="1682496"/>
          </a:xfrm>
          <a:prstGeom prst="line">
            <a:avLst/>
          </a:prstGeom>
          <a:noFill/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2962656" y="4773168"/>
            <a:ext cx="1965960" cy="1078992"/>
          </a:xfrm>
          <a:prstGeom prst="roundRect">
            <a:avLst>
              <a:gd name="adj" fmla="val 10169"/>
            </a:avLst>
          </a:prstGeom>
          <a:noFill/>
          <a:ln>
            <a:noFill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18104" y="4919472"/>
            <a:ext cx="832104" cy="283464"/>
          </a:xfrm>
          <a:prstGeom prst="roundRect">
            <a:avLst/>
          </a:prstGeom>
          <a:noFill/>
          <a:ln>
            <a:noFill/>
          </a:ln>
        </p:spPr>
      </p:sp>
      <p:sp>
        <p:nvSpPr>
          <p:cNvPr id="24" name="Text 22"/>
          <p:cNvSpPr txBox="1"/>
          <p:nvPr/>
        </p:nvSpPr>
        <p:spPr>
          <a:xfrm>
            <a:off x="3118104" y="4928616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127248" y="5285232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 flipH="1" flipV="1">
            <a:off x="4572000" y="3008376"/>
            <a:ext cx="374904" cy="2304288"/>
          </a:xfrm>
          <a:prstGeom prst="line">
            <a:avLst/>
          </a:prstGeom>
          <a:noFill/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7818120" y="4773168"/>
            <a:ext cx="1965960" cy="1078992"/>
          </a:xfrm>
          <a:prstGeom prst="roundRect">
            <a:avLst>
              <a:gd name="adj" fmla="val 10169"/>
            </a:avLst>
          </a:prstGeom>
          <a:noFill/>
          <a:ln>
            <a:noFill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73568" y="4919472"/>
            <a:ext cx="832104" cy="283464"/>
          </a:xfrm>
          <a:prstGeom prst="roundRect">
            <a:avLst/>
          </a:prstGeom>
          <a:noFill/>
          <a:ln>
            <a:noFill/>
          </a:ln>
        </p:spPr>
      </p:sp>
      <p:sp>
        <p:nvSpPr>
          <p:cNvPr id="29" name="Text 27"/>
          <p:cNvSpPr txBox="1"/>
          <p:nvPr/>
        </p:nvSpPr>
        <p:spPr>
          <a:xfrm>
            <a:off x="7973568" y="4928616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982712" y="5285232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 flipH="1" flipV="1">
            <a:off x="7562088" y="3008376"/>
            <a:ext cx="237744" cy="2304288"/>
          </a:xfrm>
          <a:prstGeom prst="line">
            <a:avLst/>
          </a:prstGeom>
          <a:noFill/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9582912" y="4151376"/>
            <a:ext cx="1965960" cy="1078992"/>
          </a:xfrm>
          <a:prstGeom prst="roundRect">
            <a:avLst>
              <a:gd name="adj" fmla="val 10169"/>
            </a:avLst>
          </a:prstGeom>
          <a:noFill/>
          <a:ln>
            <a:noFill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38360" y="4297680"/>
            <a:ext cx="832104" cy="283464"/>
          </a:xfrm>
          <a:prstGeom prst="roundRect">
            <a:avLst/>
          </a:prstGeom>
          <a:noFill/>
          <a:ln>
            <a:noFill/>
          </a:ln>
        </p:spPr>
      </p:sp>
      <p:sp>
        <p:nvSpPr>
          <p:cNvPr id="34" name="Text 32"/>
          <p:cNvSpPr txBox="1"/>
          <p:nvPr/>
        </p:nvSpPr>
        <p:spPr>
          <a:xfrm>
            <a:off x="9738360" y="4306824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747504" y="4663440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 flipH="1" flipV="1">
            <a:off x="7562088" y="3008376"/>
            <a:ext cx="2002536" cy="1682496"/>
          </a:xfrm>
          <a:prstGeom prst="line">
            <a:avLst/>
          </a:prstGeom>
          <a:noFill/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9582912" y="1810512"/>
            <a:ext cx="1965960" cy="1078992"/>
          </a:xfrm>
          <a:prstGeom prst="roundRect">
            <a:avLst>
              <a:gd name="adj" fmla="val 10169"/>
            </a:avLst>
          </a:prstGeom>
          <a:noFill/>
          <a:ln>
            <a:noFill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738360" y="1956816"/>
            <a:ext cx="832104" cy="283464"/>
          </a:xfrm>
          <a:prstGeom prst="roundRect">
            <a:avLst/>
          </a:prstGeom>
          <a:noFill/>
          <a:ln>
            <a:noFill/>
          </a:ln>
        </p:spPr>
      </p:sp>
      <p:sp>
        <p:nvSpPr>
          <p:cNvPr id="39" name="Text 37"/>
          <p:cNvSpPr txBox="1"/>
          <p:nvPr/>
        </p:nvSpPr>
        <p:spPr>
          <a:xfrm>
            <a:off x="9738360" y="1965960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747504" y="2322576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 flipH="1">
            <a:off x="7562088" y="2350008"/>
            <a:ext cx="2002536" cy="658368"/>
          </a:xfrm>
          <a:prstGeom prst="line">
            <a:avLst/>
          </a:prstGeom>
          <a:noFill/>
          <a:ln>
            <a:noFill/>
          </a:ln>
        </p:spPr>
      </p:sp>
      <p:sp>
        <p:nvSpPr>
          <p:cNvPr id="42" name="Shape 40"/>
          <p:cNvSpPr/>
          <p:nvPr/>
        </p:nvSpPr>
        <p:spPr>
          <a:xfrm>
            <a:off x="2889504" y="1700784"/>
            <a:ext cx="1463040" cy="941832"/>
          </a:xfrm>
          <a:prstGeom prst="roundRect">
            <a:avLst>
              <a:gd name="adj" fmla="val 11650"/>
            </a:avLst>
          </a:prstGeom>
          <a:noFill/>
          <a:ln>
            <a:noFill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2953512" y="184708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78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2800" dirty="0"/>
          </a:p>
        </p:txBody>
      </p:sp>
      <p:sp>
        <p:nvSpPr>
          <p:cNvPr id="44" name="Text 42"/>
          <p:cNvSpPr txBox="1"/>
          <p:nvPr/>
        </p:nvSpPr>
        <p:spPr>
          <a:xfrm>
            <a:off x="2953512" y="233172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754112" y="1700784"/>
            <a:ext cx="1463040" cy="941832"/>
          </a:xfrm>
          <a:prstGeom prst="roundRect">
            <a:avLst>
              <a:gd name="adj" fmla="val 11650"/>
            </a:avLst>
          </a:prstGeom>
          <a:noFill/>
          <a:ln>
            <a:noFill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7818120" y="184708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2800" dirty="0"/>
          </a:p>
        </p:txBody>
      </p:sp>
      <p:sp>
        <p:nvSpPr>
          <p:cNvPr id="47" name="Text 45"/>
          <p:cNvSpPr txBox="1"/>
          <p:nvPr/>
        </p:nvSpPr>
        <p:spPr>
          <a:xfrm>
            <a:off x="7818120" y="233172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913632" y="4169664"/>
            <a:ext cx="4334256" cy="283464"/>
          </a:xfrm>
          <a:prstGeom prst="roundRect">
            <a:avLst/>
          </a:prstGeom>
          <a:noFill/>
          <a:ln>
            <a:noFill/>
          </a:ln>
        </p:spPr>
      </p:sp>
      <p:sp>
        <p:nvSpPr>
          <p:cNvPr id="49" name="Text 47"/>
          <p:cNvSpPr txBox="1"/>
          <p:nvPr/>
        </p:nvSpPr>
        <p:spPr>
          <a:xfrm>
            <a:off x="3913632" y="4178808"/>
            <a:ext cx="4334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960" dirty="0"/>
          </a:p>
        </p:txBody>
      </p:sp>
      <p:sp>
        <p:nvSpPr>
          <p:cNvPr id="50" name="Text 48"/>
          <p:cNvSpPr txBox="1"/>
          <p:nvPr/>
        </p:nvSpPr>
        <p:spPr>
          <a:xfrm>
            <a:off x="512064" y="6089904"/>
            <a:ext cx="10332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 sz="780">
                <a:solidFill>
                  <a:srgbClr val="6F7F90"/>
                </a:solidFill>
                <a:latin typeface="Microsoft YaHei"/>
                <a:ea typeface="Microsoft YaHei" pitchFamily="34" charset="-122"/>
                <a:cs typeface="Microsoft YaHei" pitchFamily="34" charset="-120"/>
              </a:rPr>
              <a:t>证据：tests/test_prompt_compaction.py::test_compact_protocol_reduces_representative_json_and_preserves_facts；app/services/prompt_compaction.py；b5cd87a</a:t>
            </a:r>
            <a:endParaRPr lang="en-US" sz="740" dirty="0"/>
          </a:p>
        </p:txBody>
      </p:sp>
      <p:sp>
        <p:nvSpPr>
          <p:cNvPr id="51" name="Text 49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9AA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52" name="Text 50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53" name="Shape 53"/>
          <p:cNvSpPr/>
          <p:nvPr/>
        </p:nvSpPr>
        <p:spPr>
          <a:xfrm>
            <a:off x="400000" y="1900000"/>
            <a:ext cx="11400000" cy="41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Shape 54"/>
          <p:cNvSpPr/>
          <p:nvPr/>
        </p:nvSpPr>
        <p:spPr>
          <a:xfrm>
            <a:off x="8500000" y="650000"/>
            <a:ext cx="2600000" cy="900000"/>
          </a:xfrm>
          <a:prstGeom prst="roundRect">
            <a:avLst/>
          </a:prstGeom>
          <a:solidFill>
            <a:srgbClr val="DDF7F7"/>
          </a:solidFill>
          <a:ln w="12700">
            <a:solidFill>
              <a:srgbClr val="BDE5E7"/>
            </a:solidFill>
          </a:ln>
        </p:spPr>
        <p:txBody>
          <a:bodyPr rtlCol="0" anchor="ctr"/>
          <a:lstStyle/>
          <a:p/>
        </p:txBody>
      </p:sp>
      <p:sp>
        <p:nvSpPr>
          <p:cNvPr id="55" name="TextBox 55"/>
          <p:cNvSpPr txBox="1"/>
          <p:nvPr/>
        </p:nvSpPr>
        <p:spPr>
          <a:xfrm>
            <a:off x="8700000" y="680000"/>
            <a:ext cx="2200000" cy="5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200">
                <a:solidFill>
                  <a:srgbClr val="078A94"/>
                </a:solidFill>
                <a:latin typeface="Segoe UI Semibold"/>
              </a:rPr>
              <a:t>55.1%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000000" y="1210000"/>
            <a:ext cx="16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>
                <a:solidFill>
                  <a:srgbClr val="58697C"/>
                </a:solidFill>
                <a:latin typeface="Microsoft YaHei"/>
              </a:rPr>
              <a:t>字符数减少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580000" y="2680000"/>
            <a:ext cx="1040000" cy="9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400">
                <a:solidFill>
                  <a:srgbClr val="00B7C3"/>
                </a:solidFill>
                <a:latin typeface="Segoe UI Semibold"/>
              </a:rPr>
              <a:t>8,636
→
3,878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50000" y="4450000"/>
            <a:ext cx="5000000" cy="3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150">
                <a:solidFill>
                  <a:srgbClr val="58697C"/>
                </a:solidFill>
                <a:latin typeface="Segoe UI Semibold"/>
              </a:rPr>
              <a:t>Before — minified JSON · 8,636 chars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650000" y="4450000"/>
            <a:ext cx="5000000" cy="3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150">
                <a:solidFill>
                  <a:srgbClr val="078A94"/>
                </a:solidFill>
                <a:latin typeface="Segoe UI Semibold"/>
              </a:rPr>
              <a:t>After — compact TSV (CSV-style) · 3,878 chars</a:t>
            </a:r>
          </a:p>
        </p:txBody>
      </p:sp>
      <p:sp>
        <p:nvSpPr>
          <p:cNvPr id="60" name="Shape 60"/>
          <p:cNvSpPr/>
          <p:nvPr/>
        </p:nvSpPr>
        <p:spPr>
          <a:xfrm>
            <a:off x="550000" y="4820000"/>
            <a:ext cx="5250000" cy="590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8E3EA"/>
            </a:solidFill>
          </a:ln>
        </p:spPr>
        <p:txBody>
          <a:bodyPr rtlCol="0" anchor="ctr"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760000" y="4870000"/>
            <a:ext cx="4830000" cy="4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50">
                <a:solidFill>
                  <a:srgbClr val="091426"/>
                </a:solidFill>
                <a:latin typeface="Microsoft YaHei"/>
              </a:rPr>
              <a:t>4,096  ·  50/50
最小预算仍保留每个事件窗的时间—摘要引用</a:t>
            </a:r>
          </a:p>
        </p:txBody>
      </p:sp>
      <p:sp>
        <p:nvSpPr>
          <p:cNvPr id="62" name="Shape 62"/>
          <p:cNvSpPr/>
          <p:nvPr/>
        </p:nvSpPr>
        <p:spPr>
          <a:xfrm>
            <a:off x="6420000" y="4820000"/>
            <a:ext cx="5250000" cy="590000"/>
          </a:xfrm>
          <a:prstGeom prst="roundRect">
            <a:avLst/>
          </a:prstGeom>
          <a:solidFill>
            <a:srgbClr val="DDF7F7"/>
          </a:solidFill>
          <a:ln w="12700">
            <a:solidFill>
              <a:srgbClr val="BDE5E7"/>
            </a:solidFill>
          </a:ln>
        </p:spPr>
        <p:txBody>
          <a:bodyPr rtlCol="0" anchor="ctr"/>
          <a:lstStyle/>
          <a:p/>
        </p:txBody>
      </p:sp>
      <p:sp>
        <p:nvSpPr>
          <p:cNvPr id="63" name="TextBox 63"/>
          <p:cNvSpPr txBox="1"/>
          <p:nvPr/>
        </p:nvSpPr>
        <p:spPr>
          <a:xfrm>
            <a:off x="6630000" y="4930000"/>
            <a:ext cx="4830000" cy="3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100">
                <a:solidFill>
                  <a:srgbClr val="078A94"/>
                </a:solidFill>
                <a:latin typeface="Microsoft YaHei"/>
              </a:rPr>
              <a:t>更少重复字段 → 为证据与回答保留更多上下文空间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50000" y="5580000"/>
            <a:ext cx="111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i="1" sz="950">
                <a:solidFill>
                  <a:srgbClr val="58697C"/>
                </a:solidFill>
                <a:latin typeface="Microsoft YaHei"/>
              </a:rPr>
              <a:t>字符数为自动化回归测试代理指标，不等同于 Azure 实际 token 或费用降幅。</a:t>
            </a:r>
          </a:p>
        </p:txBody>
      </p:sp>
      <p:pic>
        <p:nvPicPr>
          <p:cNvPr id="65" name="Picture 64" descr="before-j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00" y="1950000"/>
            <a:ext cx="5000000" cy="24500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000" y="1950000"/>
            <a:ext cx="5000000" cy="24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48132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38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PIVOTS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5895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实验优化时间线：每次“失败”都收紧了结论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7101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从“修清楚脸”转向“恢复真实身份信息”，再转向独立人形证据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1080000">
            <a:off x="10588752" y="-502920"/>
            <a:ext cx="2057400" cy="2057400"/>
          </a:xfrm>
          <a:prstGeom prst="arc">
            <a:avLst/>
          </a:prstGeom>
          <a:solidFill>
            <a:srgbClr val="D8E8EE">
              <a:alpha val="0"/>
            </a:srgbClr>
          </a:solidFill>
          <a:ln w="13970">
            <a:solidFill>
              <a:srgbClr val="D8E8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4572" y="370332"/>
            <a:ext cx="100584" cy="100584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20624"/>
            <a:ext cx="658368" cy="0"/>
          </a:xfrm>
          <a:prstGeom prst="line">
            <a:avLst/>
          </a:prstGeom>
          <a:noFill/>
          <a:ln w="8890">
            <a:solidFill>
              <a:srgbClr val="BFD3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252728" y="3182112"/>
            <a:ext cx="9217152" cy="0"/>
          </a:xfrm>
          <a:prstGeom prst="line">
            <a:avLst/>
          </a:prstGeom>
          <a:noFill/>
          <a:ln w="25400">
            <a:solidFill>
              <a:srgbClr val="B8C8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144" y="3081528"/>
            <a:ext cx="201168" cy="201168"/>
          </a:xfrm>
          <a:prstGeom prst="ellipse">
            <a:avLst/>
          </a:prstGeom>
          <a:solidFill>
            <a:srgbClr val="58697C"/>
          </a:solidFill>
          <a:ln w="12700">
            <a:solidFill>
              <a:srgbClr val="5869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755648"/>
            <a:ext cx="1773936" cy="1106424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1901952"/>
            <a:ext cx="384048" cy="283464"/>
          </a:xfrm>
          <a:prstGeom prst="roundRect">
            <a:avLst/>
          </a:prstGeom>
          <a:solidFill>
            <a:srgbClr val="58697C"/>
          </a:solidFill>
          <a:ln w="12700">
            <a:solidFill>
              <a:srgbClr val="5869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1911096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187452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数据不匹配</a:t>
            </a:r>
            <a:endParaRPr lang="en-US" sz="124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23317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 / ChokePoint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3529584"/>
            <a:ext cx="1773936" cy="1426464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" y="37033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94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941064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脸太小或质量集中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3799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940" dirty="0"/>
          </a:p>
        </p:txBody>
      </p:sp>
      <p:sp>
        <p:nvSpPr>
          <p:cNvPr id="20" name="Text 18"/>
          <p:cNvSpPr txBox="1"/>
          <p:nvPr/>
        </p:nvSpPr>
        <p:spPr>
          <a:xfrm>
            <a:off x="1179576" y="435254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转向 MEVID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3419856" y="3081528"/>
            <a:ext cx="201168" cy="201168"/>
          </a:xfrm>
          <a:prstGeom prst="ellipse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62072" y="1755648"/>
            <a:ext cx="1773936" cy="1106424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017520" y="1901952"/>
            <a:ext cx="384048" cy="283464"/>
          </a:xfrm>
          <a:prstGeom prst="round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17520" y="1911096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187452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门控两极</a:t>
            </a:r>
            <a:endParaRPr lang="en-US" sz="124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23317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498 → 1238 / 1305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62072" y="3529584"/>
            <a:ext cx="1773936" cy="1426464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3017520" y="37033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E2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3941064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不触发 / 全触发</a:t>
            </a:r>
            <a:endParaRPr lang="en-US" sz="102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43799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E2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940" dirty="0"/>
          </a:p>
        </p:txBody>
      </p:sp>
      <p:sp>
        <p:nvSpPr>
          <p:cNvPr id="31" name="Text 29"/>
          <p:cNvSpPr txBox="1"/>
          <p:nvPr/>
        </p:nvSpPr>
        <p:spPr>
          <a:xfrm>
            <a:off x="3447288" y="435254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× eligibility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5687568" y="308152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9784" y="1755648"/>
            <a:ext cx="1773936" cy="1106424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85232" y="1901952"/>
            <a:ext cx="384048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85232" y="1911096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742432" y="187452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超分反证</a:t>
            </a:r>
            <a:endParaRPr lang="en-US" sz="1240" dirty="0"/>
          </a:p>
        </p:txBody>
      </p:sp>
      <p:sp>
        <p:nvSpPr>
          <p:cNvPr id="37" name="Text 35"/>
          <p:cNvSpPr txBox="1"/>
          <p:nvPr/>
        </p:nvSpPr>
        <p:spPr>
          <a:xfrm>
            <a:off x="5285232" y="23317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更清楚 ≠ 更像本人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29784" y="3529584"/>
            <a:ext cx="1773936" cy="1426464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5285232" y="37033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940" dirty="0"/>
          </a:p>
        </p:txBody>
      </p:sp>
      <p:sp>
        <p:nvSpPr>
          <p:cNvPr id="40" name="Text 38"/>
          <p:cNvSpPr txBox="1"/>
          <p:nvPr/>
        </p:nvSpPr>
        <p:spPr>
          <a:xfrm>
            <a:off x="5285232" y="3941064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生成细节改变身份</a:t>
            </a:r>
            <a:endParaRPr lang="en-US" sz="1020" dirty="0"/>
          </a:p>
        </p:txBody>
      </p:sp>
      <p:sp>
        <p:nvSpPr>
          <p:cNvPr id="41" name="Text 39"/>
          <p:cNvSpPr txBox="1"/>
          <p:nvPr/>
        </p:nvSpPr>
        <p:spPr>
          <a:xfrm>
            <a:off x="5285232" y="43799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940" dirty="0"/>
          </a:p>
        </p:txBody>
      </p:sp>
      <p:sp>
        <p:nvSpPr>
          <p:cNvPr id="42" name="Text 40"/>
          <p:cNvSpPr txBox="1"/>
          <p:nvPr/>
        </p:nvSpPr>
        <p:spPr>
          <a:xfrm>
            <a:off x="5715000" y="435254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原图优先，默认关</a:t>
            </a:r>
            <a:endParaRPr lang="en-US" sz="1010" dirty="0"/>
          </a:p>
        </p:txBody>
      </p:sp>
      <p:sp>
        <p:nvSpPr>
          <p:cNvPr id="43" name="Shape 41"/>
          <p:cNvSpPr/>
          <p:nvPr/>
        </p:nvSpPr>
        <p:spPr>
          <a:xfrm>
            <a:off x="7955280" y="3081528"/>
            <a:ext cx="201168" cy="201168"/>
          </a:xfrm>
          <a:prstGeom prst="ellipse">
            <a:avLst/>
          </a:prstGeom>
          <a:solidFill>
            <a:srgbClr val="7957D5"/>
          </a:solidFill>
          <a:ln w="12700">
            <a:solidFill>
              <a:srgbClr val="7957D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97496" y="1755648"/>
            <a:ext cx="1773936" cy="1106424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552944" y="1901952"/>
            <a:ext cx="384048" cy="283464"/>
          </a:xfrm>
          <a:prstGeom prst="roundRect">
            <a:avLst/>
          </a:prstGeom>
          <a:solidFill>
            <a:srgbClr val="7957D5"/>
          </a:solidFill>
          <a:ln w="12700">
            <a:solidFill>
              <a:srgbClr val="7957D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52944" y="1911096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010144" y="187452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协议冻结</a:t>
            </a:r>
            <a:endParaRPr lang="en-US" sz="1240" dirty="0"/>
          </a:p>
        </p:txBody>
      </p:sp>
      <p:sp>
        <p:nvSpPr>
          <p:cNvPr id="48" name="Text 46"/>
          <p:cNvSpPr txBox="1"/>
          <p:nvPr/>
        </p:nvSpPr>
        <p:spPr>
          <a:xfrm>
            <a:off x="7552944" y="23317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face-best / Gallery audit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397496" y="3529584"/>
            <a:ext cx="1773936" cy="1426464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7552944" y="37033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79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940" dirty="0"/>
          </a:p>
        </p:txBody>
      </p:sp>
      <p:sp>
        <p:nvSpPr>
          <p:cNvPr id="51" name="Text 49"/>
          <p:cNvSpPr txBox="1"/>
          <p:nvPr/>
        </p:nvSpPr>
        <p:spPr>
          <a:xfrm>
            <a:off x="7552944" y="3941064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Query / Gallery</a:t>
            </a:r>
            <a:endParaRPr lang="en-US" sz="1020" dirty="0"/>
          </a:p>
        </p:txBody>
      </p:sp>
      <p:sp>
        <p:nvSpPr>
          <p:cNvPr id="52" name="Text 50"/>
          <p:cNvSpPr txBox="1"/>
          <p:nvPr/>
        </p:nvSpPr>
        <p:spPr>
          <a:xfrm>
            <a:off x="7552944" y="43799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79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940" dirty="0"/>
          </a:p>
        </p:txBody>
      </p:sp>
      <p:sp>
        <p:nvSpPr>
          <p:cNvPr id="53" name="Text 51"/>
          <p:cNvSpPr txBox="1"/>
          <p:nvPr/>
        </p:nvSpPr>
        <p:spPr>
          <a:xfrm>
            <a:off x="7982712" y="435254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结论可审计</a:t>
            </a:r>
            <a:endParaRPr lang="en-US" sz="1010" dirty="0"/>
          </a:p>
        </p:txBody>
      </p:sp>
      <p:sp>
        <p:nvSpPr>
          <p:cNvPr id="54" name="Shape 52"/>
          <p:cNvSpPr/>
          <p:nvPr/>
        </p:nvSpPr>
        <p:spPr>
          <a:xfrm>
            <a:off x="10222992" y="3081528"/>
            <a:ext cx="201168" cy="201168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65208" y="1755648"/>
            <a:ext cx="1773936" cy="1106424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820656" y="1901952"/>
            <a:ext cx="384048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820656" y="1911096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10277856" y="187452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 ReID</a:t>
            </a:r>
            <a:endParaRPr lang="en-US" sz="1240" dirty="0"/>
          </a:p>
        </p:txBody>
      </p:sp>
      <p:sp>
        <p:nvSpPr>
          <p:cNvPr id="59" name="Text 57"/>
          <p:cNvSpPr txBox="1"/>
          <p:nvPr/>
        </p:nvSpPr>
        <p:spPr>
          <a:xfrm>
            <a:off x="9820656" y="23317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backend × P1/P2/P3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665208" y="3529584"/>
            <a:ext cx="1773936" cy="1426464"/>
          </a:xfrm>
          <a:prstGeom prst="roundRect">
            <a:avLst>
              <a:gd name="adj" fmla="val 7692"/>
            </a:avLst>
          </a:prstGeom>
          <a:solidFill>
            <a:srgbClr val="DDF7F7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9820656" y="37033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940" dirty="0"/>
          </a:p>
        </p:txBody>
      </p:sp>
      <p:sp>
        <p:nvSpPr>
          <p:cNvPr id="62" name="Text 60"/>
          <p:cNvSpPr txBox="1"/>
          <p:nvPr/>
        </p:nvSpPr>
        <p:spPr>
          <a:xfrm>
            <a:off x="9820656" y="3941064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换衣成为瓶颈</a:t>
            </a:r>
            <a:endParaRPr lang="en-US" sz="1020" dirty="0"/>
          </a:p>
        </p:txBody>
      </p:sp>
      <p:sp>
        <p:nvSpPr>
          <p:cNvPr id="63" name="Text 61"/>
          <p:cNvSpPr txBox="1"/>
          <p:nvPr/>
        </p:nvSpPr>
        <p:spPr>
          <a:xfrm>
            <a:off x="9820656" y="43799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940" dirty="0"/>
          </a:p>
        </p:txBody>
      </p:sp>
      <p:sp>
        <p:nvSpPr>
          <p:cNvPr id="64" name="Text 62"/>
          <p:cNvSpPr txBox="1"/>
          <p:nvPr/>
        </p:nvSpPr>
        <p:spPr>
          <a:xfrm>
            <a:off x="10250424" y="435254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形成产品选型</a:t>
            </a:r>
            <a:endParaRPr lang="en-US" sz="1010" dirty="0"/>
          </a:p>
        </p:txBody>
      </p:sp>
      <p:sp>
        <p:nvSpPr>
          <p:cNvPr id="65" name="Shape 63"/>
          <p:cNvSpPr/>
          <p:nvPr/>
        </p:nvSpPr>
        <p:spPr>
          <a:xfrm>
            <a:off x="3429000" y="5541264"/>
            <a:ext cx="532180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429000" y="5550408"/>
            <a:ext cx="5321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核心方法：先冻结规则 → 再看结果 → 再改产品，不反向挑数据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512064" y="6089904"/>
            <a:ext cx="10332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8492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证据：super_resolution_stage_report.md 全流程 chronology</a:t>
            </a:r>
            <a:endParaRPr lang="en-US" sz="740" dirty="0"/>
          </a:p>
        </p:txBody>
      </p:sp>
      <p:sp>
        <p:nvSpPr>
          <p:cNvPr id="68" name="Text 66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9AA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69" name="Text 67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48132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38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EXPERIMENT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5895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超分实验：像素更漂亮，不代表身份信息更多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7101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40 条 recoverable Query；同一 ArcFace、Gallery 与阈值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1080000">
            <a:off x="10588752" y="-502920"/>
            <a:ext cx="2057400" cy="2057400"/>
          </a:xfrm>
          <a:prstGeom prst="arc">
            <a:avLst/>
          </a:prstGeom>
          <a:solidFill>
            <a:srgbClr val="D8E8EE">
              <a:alpha val="0"/>
            </a:srgbClr>
          </a:solidFill>
          <a:ln w="13970">
            <a:solidFill>
              <a:srgbClr val="D8E8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4572" y="370332"/>
            <a:ext cx="100584" cy="100584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20624"/>
            <a:ext cx="658368" cy="0"/>
          </a:xfrm>
          <a:prstGeom prst="line">
            <a:avLst/>
          </a:prstGeom>
          <a:noFill/>
          <a:ln w="8890">
            <a:solidFill>
              <a:srgbClr val="BFD3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30352" y="1746504"/>
            <a:ext cx="3035808" cy="3931920"/>
          </a:xfrm>
          <a:prstGeom prst="roundRect">
            <a:avLst>
              <a:gd name="adj" fmla="val 3614"/>
            </a:avLst>
          </a:prstGeom>
          <a:solidFill>
            <a:srgbClr val="F7FAFC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0" descr="C:\Users\t-zhijingwu\.copilot\repos\copilot-worktrees\event-monitor\t-zhijingwu-microsoft-expert-doodle\experiment\face_blur_ablation\paper\figures\mevid_checkin_vs_que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057400"/>
            <a:ext cx="2615184" cy="1508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86384" y="3703320"/>
            <a:ext cx="1088136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" y="3712464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登记照 Gallery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20824" y="3703320"/>
            <a:ext cx="1088136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20824" y="3712464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低质量 Query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" y="42245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真实信息丢失时，生成模型只能“合理猜测”细节。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" y="4983480"/>
            <a:ext cx="2505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Resize 对照均保持 65.0% → 排除尺寸往返本身。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3858768" y="1746504"/>
            <a:ext cx="4791456" cy="3931920"/>
          </a:xfrm>
          <a:prstGeom prst="roundRect">
            <a:avLst>
              <a:gd name="adj" fmla="val 2791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160520" y="19933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recoverable Rank-1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169664" y="2560320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285232" y="2578608"/>
            <a:ext cx="2606040" cy="246888"/>
          </a:xfrm>
          <a:prstGeom prst="roundRect">
            <a:avLst/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85232" y="2578608"/>
            <a:ext cx="2419894" cy="246888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91272" y="256032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65%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169664" y="3136392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Real-ESRGAN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5285232" y="3154680"/>
            <a:ext cx="2606040" cy="246888"/>
          </a:xfrm>
          <a:prstGeom prst="roundRect">
            <a:avLst/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285232" y="3154680"/>
            <a:ext cx="1675311" cy="246888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91272" y="313639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169664" y="3712464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CodeFormer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5285232" y="3730752"/>
            <a:ext cx="2606040" cy="246888"/>
          </a:xfrm>
          <a:prstGeom prst="roundRect">
            <a:avLst/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285232" y="3730752"/>
            <a:ext cx="1023801" cy="24688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891272" y="371246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27.5%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169664" y="4288536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GFPGAN</a:t>
            </a:r>
            <a:endParaRPr lang="en-US" sz="1080" dirty="0"/>
          </a:p>
        </p:txBody>
      </p:sp>
      <p:sp>
        <p:nvSpPr>
          <p:cNvPr id="32" name="Shape 29"/>
          <p:cNvSpPr/>
          <p:nvPr/>
        </p:nvSpPr>
        <p:spPr>
          <a:xfrm>
            <a:off x="5285232" y="4306824"/>
            <a:ext cx="2606040" cy="246888"/>
          </a:xfrm>
          <a:prstGeom prst="roundRect">
            <a:avLst/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285232" y="4306824"/>
            <a:ext cx="744583" cy="246888"/>
          </a:xfrm>
          <a:prstGeom prst="round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891272" y="428853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2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4160520" y="49560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救回 / 损害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074920" y="4910328"/>
            <a:ext cx="1033272" cy="283464"/>
          </a:xfrm>
          <a:prstGeom prst="roundRect">
            <a:avLst/>
          </a:prstGeom>
          <a:solidFill>
            <a:srgbClr val="FDEAEA"/>
          </a:solidFill>
          <a:ln w="12700">
            <a:solidFill>
              <a:srgbClr val="FDEA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74920" y="4919472"/>
            <a:ext cx="1033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E2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GFPGAN  0 / 18</a:t>
            </a:r>
            <a:endParaRPr lang="en-US" sz="810" dirty="0"/>
          </a:p>
        </p:txBody>
      </p:sp>
      <p:sp>
        <p:nvSpPr>
          <p:cNvPr id="38" name="Shape 35"/>
          <p:cNvSpPr/>
          <p:nvPr/>
        </p:nvSpPr>
        <p:spPr>
          <a:xfrm>
            <a:off x="6190488" y="4910328"/>
            <a:ext cx="1033272" cy="283464"/>
          </a:xfrm>
          <a:prstGeom prst="roundRect">
            <a:avLst/>
          </a:prstGeom>
          <a:solidFill>
            <a:srgbClr val="FDEAEA"/>
          </a:solidFill>
          <a:ln w="12700">
            <a:solidFill>
              <a:srgbClr val="FDEAE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190488" y="4919472"/>
            <a:ext cx="1033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E2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CodeFormer  0 / 15</a:t>
            </a:r>
            <a:endParaRPr lang="en-US" sz="810" dirty="0"/>
          </a:p>
        </p:txBody>
      </p:sp>
      <p:sp>
        <p:nvSpPr>
          <p:cNvPr id="40" name="Shape 37"/>
          <p:cNvSpPr/>
          <p:nvPr/>
        </p:nvSpPr>
        <p:spPr>
          <a:xfrm>
            <a:off x="7306056" y="4910328"/>
            <a:ext cx="1033272" cy="283464"/>
          </a:xfrm>
          <a:prstGeom prst="roundRect">
            <a:avLst/>
          </a:prstGeom>
          <a:solidFill>
            <a:srgbClr val="DDF7F7"/>
          </a:solidFill>
          <a:ln w="12700">
            <a:solidFill>
              <a:srgbClr val="DDF7F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306056" y="4919472"/>
            <a:ext cx="1033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78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Real-ESRGAN  1 / 9</a:t>
            </a:r>
            <a:endParaRPr lang="en-US" sz="810" dirty="0"/>
          </a:p>
        </p:txBody>
      </p:sp>
      <p:sp>
        <p:nvSpPr>
          <p:cNvPr id="42" name="Shape 39"/>
          <p:cNvSpPr/>
          <p:nvPr/>
        </p:nvSpPr>
        <p:spPr>
          <a:xfrm>
            <a:off x="8942832" y="1746504"/>
            <a:ext cx="2688336" cy="3931920"/>
          </a:xfrm>
          <a:prstGeom prst="roundRect">
            <a:avLst>
              <a:gd name="adj" fmla="val 4082"/>
            </a:avLst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9217152" y="20025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9217152" y="24323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超分默认关闭</a:t>
            </a:r>
            <a:endParaRPr lang="en-US" sz="2400" dirty="0"/>
          </a:p>
        </p:txBody>
      </p:sp>
      <p:sp>
        <p:nvSpPr>
          <p:cNvPr id="45" name="Shape 42"/>
          <p:cNvSpPr/>
          <p:nvPr/>
        </p:nvSpPr>
        <p:spPr>
          <a:xfrm>
            <a:off x="9217152" y="3127248"/>
            <a:ext cx="960120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217152" y="313639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原始对齐脸</a:t>
            </a:r>
            <a:endParaRPr lang="en-US" sz="880" dirty="0"/>
          </a:p>
        </p:txBody>
      </p:sp>
      <p:sp>
        <p:nvSpPr>
          <p:cNvPr id="47" name="Text 44"/>
          <p:cNvSpPr txBox="1"/>
          <p:nvPr/>
        </p:nvSpPr>
        <p:spPr>
          <a:xfrm>
            <a:off x="10222992" y="310896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C5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自动身份识别</a:t>
            </a:r>
            <a:endParaRPr lang="en-US" sz="970" dirty="0"/>
          </a:p>
        </p:txBody>
      </p:sp>
      <p:sp>
        <p:nvSpPr>
          <p:cNvPr id="48" name="Shape 45"/>
          <p:cNvSpPr/>
          <p:nvPr/>
        </p:nvSpPr>
        <p:spPr>
          <a:xfrm>
            <a:off x="9217152" y="3730752"/>
            <a:ext cx="960120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217152" y="3739896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超分结果</a:t>
            </a:r>
            <a:endParaRPr lang="en-US" sz="880" dirty="0"/>
          </a:p>
        </p:txBody>
      </p:sp>
      <p:sp>
        <p:nvSpPr>
          <p:cNvPr id="50" name="Text 47"/>
          <p:cNvSpPr txBox="1"/>
          <p:nvPr/>
        </p:nvSpPr>
        <p:spPr>
          <a:xfrm>
            <a:off x="10222992" y="3712464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C5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人工查看 / 显式实验</a:t>
            </a:r>
            <a:endParaRPr lang="en-US" sz="970" dirty="0"/>
          </a:p>
        </p:txBody>
      </p:sp>
      <p:sp>
        <p:nvSpPr>
          <p:cNvPr id="51" name="Shape 48"/>
          <p:cNvSpPr/>
          <p:nvPr/>
        </p:nvSpPr>
        <p:spPr>
          <a:xfrm>
            <a:off x="9217152" y="4334256"/>
            <a:ext cx="960120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217152" y="434340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CR-FIQA</a:t>
            </a:r>
            <a:endParaRPr lang="en-US" sz="880" dirty="0"/>
          </a:p>
        </p:txBody>
      </p:sp>
      <p:sp>
        <p:nvSpPr>
          <p:cNvPr id="53" name="Text 50"/>
          <p:cNvSpPr txBox="1"/>
          <p:nvPr/>
        </p:nvSpPr>
        <p:spPr>
          <a:xfrm>
            <a:off x="10222992" y="4315968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C5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仅作诊断信号</a:t>
            </a:r>
            <a:endParaRPr lang="en-US" sz="970" dirty="0"/>
          </a:p>
        </p:txBody>
      </p:sp>
      <p:sp>
        <p:nvSpPr>
          <p:cNvPr id="54" name="Text 51"/>
          <p:cNvSpPr txBox="1"/>
          <p:nvPr/>
        </p:nvSpPr>
        <p:spPr>
          <a:xfrm>
            <a:off x="9208008" y="5084064"/>
            <a:ext cx="21396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91A7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范围：40 条 recoverable；Real-ESRGAN 与原图差异不显著（p≈0.31）。</a:t>
            </a:r>
            <a:endParaRPr lang="en-US" sz="940" dirty="0"/>
          </a:p>
        </p:txBody>
      </p:sp>
      <p:sp>
        <p:nvSpPr>
          <p:cNvPr id="55" name="Text 52"/>
          <p:cNvSpPr txBox="1"/>
          <p:nvPr/>
        </p:nvSpPr>
        <p:spPr>
          <a:xfrm>
            <a:off x="512064" y="6089904"/>
            <a:ext cx="10332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8492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证据：统一报告 §7、糊脸超分阶段结论；paper/figures</a:t>
            </a:r>
            <a:endParaRPr lang="en-US" sz="740" dirty="0"/>
          </a:p>
        </p:txBody>
      </p:sp>
      <p:sp>
        <p:nvSpPr>
          <p:cNvPr id="56" name="Text 53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9AA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57" name="Text 54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48132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38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EXPERIMENT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5895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Body ReID：先冻结样本，再运行四模型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7101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同一身份、轨迹、抽帧、质量门控、聚合与评分；只保留模型官方预处理差异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1080000">
            <a:off x="10588752" y="-502920"/>
            <a:ext cx="2057400" cy="2057400"/>
          </a:xfrm>
          <a:prstGeom prst="arc">
            <a:avLst/>
          </a:prstGeom>
          <a:solidFill>
            <a:srgbClr val="D8E8EE">
              <a:alpha val="0"/>
            </a:srgbClr>
          </a:solidFill>
          <a:ln w="13970">
            <a:solidFill>
              <a:srgbClr val="D8E8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4572" y="370332"/>
            <a:ext cx="100584" cy="100584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20624"/>
            <a:ext cx="658368" cy="0"/>
          </a:xfrm>
          <a:prstGeom prst="line">
            <a:avLst/>
          </a:prstGeom>
          <a:noFill/>
          <a:ln w="8890">
            <a:solidFill>
              <a:srgbClr val="BFD3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30352" y="1755648"/>
            <a:ext cx="2057400" cy="4133088"/>
          </a:xfrm>
          <a:prstGeom prst="roundRect">
            <a:avLst>
              <a:gd name="adj" fmla="val 5333"/>
            </a:avLst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204825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D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6,503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53288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7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冻结总帧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0392" y="2990088"/>
            <a:ext cx="1417320" cy="0"/>
          </a:xfrm>
          <a:prstGeom prst="line">
            <a:avLst/>
          </a:prstGeom>
          <a:noFill/>
          <a:ln w="12700">
            <a:solidFill>
              <a:srgbClr val="35516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18211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4,428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666744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7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 阈值校准帧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0392" y="4105656"/>
            <a:ext cx="1417320" cy="0"/>
          </a:xfrm>
          <a:prstGeom prst="line">
            <a:avLst/>
          </a:prstGeom>
          <a:noFill/>
          <a:ln w="12700">
            <a:solidFill>
              <a:srgbClr val="35516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27939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2,075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764024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7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正式评测帧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5321808"/>
            <a:ext cx="1426464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5330952"/>
            <a:ext cx="1426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Gallery 27 / 27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07792" y="1755648"/>
            <a:ext cx="2505456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99816" y="1965960"/>
            <a:ext cx="1234440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99816" y="1975104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· 总体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090672" y="256946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3090672" y="290779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Query</a:t>
            </a:r>
            <a:endParaRPr lang="en-US" sz="860" dirty="0"/>
          </a:p>
        </p:txBody>
      </p:sp>
      <p:sp>
        <p:nvSpPr>
          <p:cNvPr id="25" name="Text 23"/>
          <p:cNvSpPr txBox="1"/>
          <p:nvPr/>
        </p:nvSpPr>
        <p:spPr>
          <a:xfrm>
            <a:off x="3840480" y="256946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290779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genuine</a:t>
            </a:r>
            <a:endParaRPr lang="en-US" sz="86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256946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290779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imposter</a:t>
            </a:r>
            <a:endParaRPr lang="en-US" sz="860" dirty="0"/>
          </a:p>
        </p:txBody>
      </p:sp>
      <p:sp>
        <p:nvSpPr>
          <p:cNvPr id="29" name="Text 27"/>
          <p:cNvSpPr txBox="1"/>
          <p:nvPr/>
        </p:nvSpPr>
        <p:spPr>
          <a:xfrm>
            <a:off x="3136392" y="3364992"/>
            <a:ext cx="20482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闭集排序 + 开放集拒绝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5715000" y="1755648"/>
            <a:ext cx="2505456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07024" y="1965960"/>
            <a:ext cx="1234440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07024" y="1975104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· 严格换衣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897880" y="256946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5897880" y="290779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</a:t>
            </a:r>
            <a:endParaRPr lang="en-US" sz="860" dirty="0"/>
          </a:p>
        </p:txBody>
      </p:sp>
      <p:sp>
        <p:nvSpPr>
          <p:cNvPr id="35" name="Text 33"/>
          <p:cNvSpPr txBox="1"/>
          <p:nvPr/>
        </p:nvSpPr>
        <p:spPr>
          <a:xfrm>
            <a:off x="6647688" y="256946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≠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47688" y="290779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服装</a:t>
            </a:r>
            <a:endParaRPr lang="en-US" sz="860" dirty="0"/>
          </a:p>
        </p:txBody>
      </p:sp>
      <p:sp>
        <p:nvSpPr>
          <p:cNvPr id="37" name="Text 35"/>
          <p:cNvSpPr txBox="1"/>
          <p:nvPr/>
        </p:nvSpPr>
        <p:spPr>
          <a:xfrm>
            <a:off x="7397496" y="256946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397496" y="290779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</a:t>
            </a:r>
            <a:endParaRPr lang="en-US" sz="860" dirty="0"/>
          </a:p>
        </p:txBody>
      </p:sp>
      <p:sp>
        <p:nvSpPr>
          <p:cNvPr id="39" name="Text 37"/>
          <p:cNvSpPr txBox="1"/>
          <p:nvPr/>
        </p:nvSpPr>
        <p:spPr>
          <a:xfrm>
            <a:off x="5943600" y="3364992"/>
            <a:ext cx="20482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回答模型是在认人，还是认衣服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8522208" y="1755648"/>
            <a:ext cx="2505456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714232" y="1965960"/>
            <a:ext cx="1234440" cy="283464"/>
          </a:xfrm>
          <a:prstGeom prst="round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14232" y="1975104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· 同衣跨摄像头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705088" y="256946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8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1900" dirty="0"/>
          </a:p>
        </p:txBody>
      </p:sp>
      <p:sp>
        <p:nvSpPr>
          <p:cNvPr id="44" name="Text 42"/>
          <p:cNvSpPr txBox="1"/>
          <p:nvPr/>
        </p:nvSpPr>
        <p:spPr>
          <a:xfrm>
            <a:off x="8705088" y="290779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</a:t>
            </a:r>
            <a:endParaRPr lang="en-US" sz="860" dirty="0"/>
          </a:p>
        </p:txBody>
      </p:sp>
      <p:sp>
        <p:nvSpPr>
          <p:cNvPr id="45" name="Text 43"/>
          <p:cNvSpPr txBox="1"/>
          <p:nvPr/>
        </p:nvSpPr>
        <p:spPr>
          <a:xfrm>
            <a:off x="9454896" y="256946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≠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9454896" y="290779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摄像头</a:t>
            </a:r>
            <a:endParaRPr lang="en-US" sz="860" dirty="0"/>
          </a:p>
        </p:txBody>
      </p:sp>
      <p:sp>
        <p:nvSpPr>
          <p:cNvPr id="47" name="Text 45"/>
          <p:cNvSpPr txBox="1"/>
          <p:nvPr/>
        </p:nvSpPr>
        <p:spPr>
          <a:xfrm>
            <a:off x="10204704" y="256946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204704" y="290779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服装</a:t>
            </a:r>
            <a:endParaRPr lang="en-US" sz="860" dirty="0"/>
          </a:p>
        </p:txBody>
      </p:sp>
      <p:sp>
        <p:nvSpPr>
          <p:cNvPr id="49" name="Text 47"/>
          <p:cNvSpPr txBox="1"/>
          <p:nvPr/>
        </p:nvSpPr>
        <p:spPr>
          <a:xfrm>
            <a:off x="8750808" y="3364992"/>
            <a:ext cx="20482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诊断普通跨视角难度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2907792" y="4096512"/>
            <a:ext cx="8119872" cy="170078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1" name="Image 0" descr="C:\Users\t-zhijingwu\.copilot\session-state\631e4633-7842-4be1-a0e5-434aceda99c3\pptx-work\embedded\embedded_0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72384" y="4233672"/>
            <a:ext cx="2880360" cy="1417320"/>
          </a:xfrm>
          <a:prstGeom prst="rect">
            <a:avLst/>
          </a:prstGeom>
        </p:spPr>
      </p:pic>
      <p:sp>
        <p:nvSpPr>
          <p:cNvPr id="52" name="Text 49"/>
          <p:cNvSpPr txBox="1"/>
          <p:nvPr/>
        </p:nvSpPr>
        <p:spPr>
          <a:xfrm>
            <a:off x="6071616" y="4379976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Gallery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6071616" y="4681728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身份模板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3 轨迹 × 8 帧</a:t>
            </a:r>
            <a:endParaRPr lang="en-US" sz="1020" dirty="0"/>
          </a:p>
        </p:txBody>
      </p:sp>
      <p:sp>
        <p:nvSpPr>
          <p:cNvPr id="54" name="Shape 51"/>
          <p:cNvSpPr/>
          <p:nvPr/>
        </p:nvSpPr>
        <p:spPr>
          <a:xfrm>
            <a:off x="7205472" y="4882896"/>
            <a:ext cx="365760" cy="0"/>
          </a:xfrm>
          <a:prstGeom prst="line">
            <a:avLst/>
          </a:prstGeom>
          <a:noFill/>
          <a:ln w="2286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55" name="Text 52"/>
          <p:cNvSpPr txBox="1"/>
          <p:nvPr/>
        </p:nvSpPr>
        <p:spPr>
          <a:xfrm>
            <a:off x="7626096" y="4416552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embedding pipeline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7626096" y="473659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帧归一化 → 轨迹均值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身份模板 → 余弦排序</a:t>
            </a:r>
            <a:endParaRPr lang="en-US" sz="960" dirty="0"/>
          </a:p>
        </p:txBody>
      </p:sp>
      <p:sp>
        <p:nvSpPr>
          <p:cNvPr id="57" name="Shape 54"/>
          <p:cNvSpPr/>
          <p:nvPr/>
        </p:nvSpPr>
        <p:spPr>
          <a:xfrm>
            <a:off x="9528048" y="4882896"/>
            <a:ext cx="36576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9966960" y="4736592"/>
            <a:ext cx="804672" cy="283464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966960" y="474573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 SHA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8705088" y="5797296"/>
            <a:ext cx="2331720" cy="283464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705088" y="580644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/ P3 仅为小诊断子集</a:t>
            </a:r>
            <a:endParaRPr lang="en-US" sz="950" dirty="0"/>
          </a:p>
        </p:txBody>
      </p:sp>
      <p:sp>
        <p:nvSpPr>
          <p:cNvPr id="62" name="Text 59"/>
          <p:cNvSpPr txBox="1"/>
          <p:nvPr/>
        </p:nvSpPr>
        <p:spPr>
          <a:xfrm>
            <a:off x="512064" y="6089904"/>
            <a:ext cx="10332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8492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证据：experiment/body_reid/experiment_plan.md；统一报告 §12–13</a:t>
            </a:r>
            <a:endParaRPr lang="en-US" sz="740" dirty="0"/>
          </a:p>
        </p:txBody>
      </p:sp>
      <p:sp>
        <p:nvSpPr>
          <p:cNvPr id="63" name="Text 60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9AA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64" name="Text 61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48132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38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SELECTION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5895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ReID 结果：默认选择“平衡点”，而不是单一最高分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7101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主结果 + P2/P3 诊断 + 同一 Tesla T4 延迟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1080000">
            <a:off x="10588752" y="-502920"/>
            <a:ext cx="2057400" cy="2057400"/>
          </a:xfrm>
          <a:prstGeom prst="arc">
            <a:avLst/>
          </a:prstGeom>
          <a:solidFill>
            <a:srgbClr val="D8E8EE">
              <a:alpha val="0"/>
            </a:srgbClr>
          </a:solidFill>
          <a:ln w="13970">
            <a:solidFill>
              <a:srgbClr val="D8E8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4572" y="370332"/>
            <a:ext cx="100584" cy="100584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20624"/>
            <a:ext cx="658368" cy="0"/>
          </a:xfrm>
          <a:prstGeom prst="line">
            <a:avLst/>
          </a:prstGeom>
          <a:noFill/>
          <a:ln w="8890">
            <a:solidFill>
              <a:srgbClr val="BFD3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66928" y="1810512"/>
            <a:ext cx="1389888" cy="384048"/>
          </a:xfrm>
          <a:prstGeom prst="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82880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2029968" y="1810512"/>
            <a:ext cx="978408" cy="384048"/>
          </a:xfrm>
          <a:prstGeom prst="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29968" y="18288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Rank-1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063240" y="1810512"/>
            <a:ext cx="978408" cy="384048"/>
          </a:xfrm>
          <a:prstGeom prst="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3240" y="18288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Rank-5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096512" y="1810512"/>
            <a:ext cx="978408" cy="384048"/>
          </a:xfrm>
          <a:prstGeom prst="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96512" y="18288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mAP*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129784" y="1810512"/>
            <a:ext cx="978408" cy="384048"/>
          </a:xfrm>
          <a:prstGeom prst="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9784" y="18288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163056" y="1810512"/>
            <a:ext cx="978408" cy="384048"/>
          </a:xfrm>
          <a:prstGeom prst="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63056" y="18288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196328" y="1810512"/>
            <a:ext cx="1024128" cy="384048"/>
          </a:xfrm>
          <a:prstGeom prst="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96328" y="182880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Avg ms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66928" y="2212848"/>
            <a:ext cx="138988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216" y="2231136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OSNet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29968" y="2212848"/>
            <a:ext cx="97840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48256" y="2231136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53.76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3063240" y="2212848"/>
            <a:ext cx="97840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81528" y="2231136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73.12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096512" y="2212848"/>
            <a:ext cx="97840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0" y="2231136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64.04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5129784" y="2212848"/>
            <a:ext cx="97840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48072" y="2231136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163056" y="2212848"/>
            <a:ext cx="97840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81344" y="2231136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58.33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7196328" y="2212848"/>
            <a:ext cx="102412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14616" y="223113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15.94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566928" y="2688336"/>
            <a:ext cx="1389888" cy="457200"/>
          </a:xfrm>
          <a:prstGeom prst="rect">
            <a:avLst/>
          </a:prstGeom>
          <a:solidFill>
            <a:srgbClr val="DDF7F7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5216" y="2706624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8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CLIP-ReID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029968" y="2688336"/>
            <a:ext cx="978408" cy="457200"/>
          </a:xfrm>
          <a:prstGeom prst="rect">
            <a:avLst/>
          </a:prstGeom>
          <a:solidFill>
            <a:srgbClr val="DDF7F7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048256" y="2706624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8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65.59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3063240" y="2688336"/>
            <a:ext cx="978408" cy="457200"/>
          </a:xfrm>
          <a:prstGeom prst="rect">
            <a:avLst/>
          </a:prstGeom>
          <a:solidFill>
            <a:srgbClr val="DDF7F7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081528" y="2706624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8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82.80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4096512" y="2688336"/>
            <a:ext cx="978408" cy="457200"/>
          </a:xfrm>
          <a:prstGeom prst="rect">
            <a:avLst/>
          </a:prstGeom>
          <a:solidFill>
            <a:srgbClr val="DDF7F7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114800" y="2706624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8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73.78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5129784" y="2688336"/>
            <a:ext cx="978408" cy="457200"/>
          </a:xfrm>
          <a:prstGeom prst="rect">
            <a:avLst/>
          </a:prstGeom>
          <a:solidFill>
            <a:srgbClr val="DDF7F7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148072" y="2706624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8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8.70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163056" y="2688336"/>
            <a:ext cx="978408" cy="457200"/>
          </a:xfrm>
          <a:prstGeom prst="rect">
            <a:avLst/>
          </a:prstGeom>
          <a:solidFill>
            <a:srgbClr val="DDF7F7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81344" y="2706624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8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75.00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7196328" y="2688336"/>
            <a:ext cx="1024128" cy="457200"/>
          </a:xfrm>
          <a:prstGeom prst="rect">
            <a:avLst/>
          </a:prstGeom>
          <a:solidFill>
            <a:srgbClr val="DDF7F7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14616" y="270662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8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11.20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566928" y="3163824"/>
            <a:ext cx="138988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85216" y="3182112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SigLIP2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029968" y="3163824"/>
            <a:ext cx="97840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048256" y="3182112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65.59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3063240" y="3163824"/>
            <a:ext cx="97840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081528" y="3182112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81.72</a:t>
            </a:r>
            <a:endParaRPr lang="en-US" sz="1020" dirty="0"/>
          </a:p>
        </p:txBody>
      </p:sp>
      <p:sp>
        <p:nvSpPr>
          <p:cNvPr id="57" name="Shape 55"/>
          <p:cNvSpPr/>
          <p:nvPr/>
        </p:nvSpPr>
        <p:spPr>
          <a:xfrm>
            <a:off x="4096512" y="3163824"/>
            <a:ext cx="97840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114800" y="3182112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73.08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5129784" y="3163824"/>
            <a:ext cx="97840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48072" y="3182112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17.39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6163056" y="3163824"/>
            <a:ext cx="97840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181344" y="3182112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75.00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7196328" y="3163824"/>
            <a:ext cx="102412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214616" y="318211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16.13</a:t>
            </a:r>
            <a:endParaRPr lang="en-US" sz="1020" dirty="0"/>
          </a:p>
        </p:txBody>
      </p:sp>
      <p:sp>
        <p:nvSpPr>
          <p:cNvPr id="65" name="Shape 63"/>
          <p:cNvSpPr/>
          <p:nvPr/>
        </p:nvSpPr>
        <p:spPr>
          <a:xfrm>
            <a:off x="566928" y="3639312"/>
            <a:ext cx="1389888" cy="457200"/>
          </a:xfrm>
          <a:prstGeom prst="rect">
            <a:avLst/>
          </a:prstGeom>
          <a:solidFill>
            <a:srgbClr val="FFF2D6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85216" y="365760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DIFFER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029968" y="3639312"/>
            <a:ext cx="978408" cy="457200"/>
          </a:xfrm>
          <a:prstGeom prst="rect">
            <a:avLst/>
          </a:prstGeom>
          <a:solidFill>
            <a:srgbClr val="FFF2D6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048256" y="3657600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68.82</a:t>
            </a:r>
            <a:endParaRPr lang="en-US" sz="1020" dirty="0"/>
          </a:p>
        </p:txBody>
      </p:sp>
      <p:sp>
        <p:nvSpPr>
          <p:cNvPr id="69" name="Shape 67"/>
          <p:cNvSpPr/>
          <p:nvPr/>
        </p:nvSpPr>
        <p:spPr>
          <a:xfrm>
            <a:off x="3063240" y="3639312"/>
            <a:ext cx="978408" cy="457200"/>
          </a:xfrm>
          <a:prstGeom prst="rect">
            <a:avLst/>
          </a:prstGeom>
          <a:solidFill>
            <a:srgbClr val="FFF2D6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081528" y="3657600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84.95</a:t>
            </a:r>
            <a:endParaRPr lang="en-US" sz="1020" dirty="0"/>
          </a:p>
        </p:txBody>
      </p:sp>
      <p:sp>
        <p:nvSpPr>
          <p:cNvPr id="71" name="Shape 69"/>
          <p:cNvSpPr/>
          <p:nvPr/>
        </p:nvSpPr>
        <p:spPr>
          <a:xfrm>
            <a:off x="4096512" y="3639312"/>
            <a:ext cx="978408" cy="457200"/>
          </a:xfrm>
          <a:prstGeom prst="rect">
            <a:avLst/>
          </a:prstGeom>
          <a:solidFill>
            <a:srgbClr val="FFF2D6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114800" y="3657600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76.13</a:t>
            </a:r>
            <a:endParaRPr lang="en-US" sz="1020" dirty="0"/>
          </a:p>
        </p:txBody>
      </p:sp>
      <p:sp>
        <p:nvSpPr>
          <p:cNvPr id="73" name="Shape 71"/>
          <p:cNvSpPr/>
          <p:nvPr/>
        </p:nvSpPr>
        <p:spPr>
          <a:xfrm>
            <a:off x="5129784" y="3639312"/>
            <a:ext cx="978408" cy="457200"/>
          </a:xfrm>
          <a:prstGeom prst="rect">
            <a:avLst/>
          </a:prstGeom>
          <a:solidFill>
            <a:srgbClr val="FFF2D6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148072" y="3657600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34.78</a:t>
            </a:r>
            <a:endParaRPr lang="en-US" sz="1020" dirty="0"/>
          </a:p>
        </p:txBody>
      </p:sp>
      <p:sp>
        <p:nvSpPr>
          <p:cNvPr id="75" name="Shape 73"/>
          <p:cNvSpPr/>
          <p:nvPr/>
        </p:nvSpPr>
        <p:spPr>
          <a:xfrm>
            <a:off x="6163056" y="3639312"/>
            <a:ext cx="978408" cy="457200"/>
          </a:xfrm>
          <a:prstGeom prst="rect">
            <a:avLst/>
          </a:prstGeom>
          <a:solidFill>
            <a:srgbClr val="FFF2D6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181344" y="3657600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72.22</a:t>
            </a:r>
            <a:endParaRPr lang="en-US" sz="1020" dirty="0"/>
          </a:p>
        </p:txBody>
      </p:sp>
      <p:sp>
        <p:nvSpPr>
          <p:cNvPr id="77" name="Shape 75"/>
          <p:cNvSpPr/>
          <p:nvPr/>
        </p:nvSpPr>
        <p:spPr>
          <a:xfrm>
            <a:off x="7196328" y="3639312"/>
            <a:ext cx="1024128" cy="457200"/>
          </a:xfrm>
          <a:prstGeom prst="rect">
            <a:avLst/>
          </a:prstGeom>
          <a:solidFill>
            <a:srgbClr val="FFF2D6"/>
          </a:solidFill>
          <a:ln w="7620">
            <a:solidFill>
              <a:srgbClr val="D8E3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214616" y="365760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67.75</a:t>
            </a:r>
            <a:endParaRPr lang="en-US" sz="1020" dirty="0"/>
          </a:p>
        </p:txBody>
      </p:sp>
      <p:sp>
        <p:nvSpPr>
          <p:cNvPr id="79" name="Text 77"/>
          <p:cNvSpPr txBox="1"/>
          <p:nvPr/>
        </p:nvSpPr>
        <p:spPr>
          <a:xfrm>
            <a:off x="603504" y="425196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492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单位：准确率 %；* mAP_identity_template；CLIP-ReID 与 SigLIP2 Rank-1 并列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558784" y="1810512"/>
            <a:ext cx="3072384" cy="1481328"/>
          </a:xfrm>
          <a:prstGeom prst="roundRect">
            <a:avLst>
              <a:gd name="adj" fmla="val 7407"/>
            </a:avLst>
          </a:prstGeom>
          <a:solidFill>
            <a:srgbClr val="DDF7F7"/>
          </a:solidFill>
          <a:ln w="12700">
            <a:solidFill>
              <a:srgbClr val="A8E0E3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8796528" y="2002536"/>
            <a:ext cx="932688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796528" y="2011680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默认候选</a:t>
            </a:r>
            <a:endParaRPr lang="en-US" sz="940" dirty="0"/>
          </a:p>
        </p:txBody>
      </p:sp>
      <p:sp>
        <p:nvSpPr>
          <p:cNvPr id="83" name="Text 81"/>
          <p:cNvSpPr txBox="1"/>
          <p:nvPr/>
        </p:nvSpPr>
        <p:spPr>
          <a:xfrm>
            <a:off x="8796528" y="240487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78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CLIP-ReID</a:t>
            </a:r>
            <a:endParaRPr lang="en-US" sz="2100" dirty="0"/>
          </a:p>
        </p:txBody>
      </p:sp>
      <p:sp>
        <p:nvSpPr>
          <p:cNvPr id="84" name="Text 82"/>
          <p:cNvSpPr txBox="1"/>
          <p:nvPr/>
        </p:nvSpPr>
        <p:spPr>
          <a:xfrm>
            <a:off x="8796528" y="2770632"/>
            <a:ext cx="2404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65.59% Rank-1 · 11.20 ms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T4 最快，准确率接近最高</a:t>
            </a:r>
            <a:endParaRPr lang="en-US" sz="980" dirty="0"/>
          </a:p>
        </p:txBody>
      </p:sp>
      <p:sp>
        <p:nvSpPr>
          <p:cNvPr id="85" name="Shape 83"/>
          <p:cNvSpPr/>
          <p:nvPr/>
        </p:nvSpPr>
        <p:spPr>
          <a:xfrm>
            <a:off x="8558784" y="3493008"/>
            <a:ext cx="3072384" cy="1481328"/>
          </a:xfrm>
          <a:prstGeom prst="roundRect">
            <a:avLst>
              <a:gd name="adj" fmla="val 7407"/>
            </a:avLst>
          </a:prstGeom>
          <a:solidFill>
            <a:srgbClr val="FFF2D6"/>
          </a:solidFill>
          <a:ln w="12700">
            <a:solidFill>
              <a:srgbClr val="F4D18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8796528" y="3685032"/>
            <a:ext cx="1069848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796528" y="3694176"/>
            <a:ext cx="1069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准确率优先</a:t>
            </a:r>
            <a:endParaRPr lang="en-US" sz="940" dirty="0"/>
          </a:p>
        </p:txBody>
      </p:sp>
      <p:sp>
        <p:nvSpPr>
          <p:cNvPr id="88" name="Text 86"/>
          <p:cNvSpPr txBox="1"/>
          <p:nvPr/>
        </p:nvSpPr>
        <p:spPr>
          <a:xfrm>
            <a:off x="8796528" y="408736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DIFFER</a:t>
            </a:r>
            <a:endParaRPr lang="en-US" sz="2100" dirty="0"/>
          </a:p>
        </p:txBody>
      </p:sp>
      <p:sp>
        <p:nvSpPr>
          <p:cNvPr id="89" name="Text 87"/>
          <p:cNvSpPr txBox="1"/>
          <p:nvPr/>
        </p:nvSpPr>
        <p:spPr>
          <a:xfrm>
            <a:off x="8796528" y="4453128"/>
            <a:ext cx="2404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68.82% Rank-1 · 34.78% P2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 67.75 ms，约慢 6×</a:t>
            </a:r>
            <a:endParaRPr lang="en-US" sz="980" dirty="0"/>
          </a:p>
        </p:txBody>
      </p:sp>
      <p:sp>
        <p:nvSpPr>
          <p:cNvPr id="90" name="Shape 88"/>
          <p:cNvSpPr/>
          <p:nvPr/>
        </p:nvSpPr>
        <p:spPr>
          <a:xfrm>
            <a:off x="566928" y="4681728"/>
            <a:ext cx="7571232" cy="1078992"/>
          </a:xfrm>
          <a:prstGeom prst="roundRect">
            <a:avLst>
              <a:gd name="adj" fmla="val 10169"/>
            </a:avLst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1" name="Text 89"/>
          <p:cNvSpPr txBox="1"/>
          <p:nvPr/>
        </p:nvSpPr>
        <p:spPr>
          <a:xfrm>
            <a:off x="841248" y="4946904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换衣仍是瓶颈</a:t>
            </a:r>
            <a:endParaRPr lang="en-US" sz="1700" dirty="0"/>
          </a:p>
        </p:txBody>
      </p:sp>
      <p:sp>
        <p:nvSpPr>
          <p:cNvPr id="92" name="Text 90"/>
          <p:cNvSpPr txBox="1"/>
          <p:nvPr/>
        </p:nvSpPr>
        <p:spPr>
          <a:xfrm>
            <a:off x="2395728" y="49103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最好 34.78%  ≪  P3 72%–75%</a:t>
            </a:r>
            <a:endParaRPr lang="en-US" sz="1600" dirty="0"/>
          </a:p>
        </p:txBody>
      </p:sp>
      <p:sp>
        <p:nvSpPr>
          <p:cNvPr id="93" name="Text 91"/>
          <p:cNvSpPr txBox="1"/>
          <p:nvPr/>
        </p:nvSpPr>
        <p:spPr>
          <a:xfrm>
            <a:off x="5065776" y="4892040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7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n=23 / P3 n=36；一个样本分别影响 4.35 / 2.78 个百分点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8860536" y="5321808"/>
            <a:ext cx="2212848" cy="283464"/>
          </a:xfrm>
          <a:prstGeom prst="roundRect">
            <a:avLst/>
          </a:prstGeom>
          <a:solidFill>
            <a:srgbClr val="FDEAEA"/>
          </a:solidFill>
          <a:ln w="12700">
            <a:solidFill>
              <a:srgbClr val="FDEAEA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8860536" y="5330952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阶段性选型 ≠ 普遍算法排名</a:t>
            </a:r>
            <a:endParaRPr lang="en-US" sz="1000" dirty="0"/>
          </a:p>
        </p:txBody>
      </p:sp>
      <p:sp>
        <p:nvSpPr>
          <p:cNvPr id="96" name="Text 94"/>
          <p:cNvSpPr txBox="1"/>
          <p:nvPr/>
        </p:nvSpPr>
        <p:spPr>
          <a:xfrm>
            <a:off x="512064" y="6089904"/>
            <a:ext cx="10332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8492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证据：统一报告 §16–18；性能来自同一 Tesla T4 16 GB、单次审计正式运行</a:t>
            </a:r>
            <a:endParaRPr lang="en-US" sz="740" dirty="0"/>
          </a:p>
        </p:txBody>
      </p:sp>
      <p:sp>
        <p:nvSpPr>
          <p:cNvPr id="97" name="Text 95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9AA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98" name="Text 96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48132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38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 DEMO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5895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一分钟演示：从原始视频到事件与身份结果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7101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录屏优先；现场只复现关键路径，并准备可离线回放的 dry-run 结果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1080000">
            <a:off x="10588752" y="-502920"/>
            <a:ext cx="2057400" cy="2057400"/>
          </a:xfrm>
          <a:prstGeom prst="arc">
            <a:avLst/>
          </a:prstGeom>
          <a:solidFill>
            <a:srgbClr val="D8E8EE">
              <a:alpha val="0"/>
            </a:srgbClr>
          </a:solidFill>
          <a:ln w="13970">
            <a:solidFill>
              <a:srgbClr val="D8E8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4572" y="370332"/>
            <a:ext cx="100584" cy="100584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20624"/>
            <a:ext cx="658368" cy="0"/>
          </a:xfrm>
          <a:prstGeom prst="line">
            <a:avLst/>
          </a:prstGeom>
          <a:noFill/>
          <a:ln w="8890">
            <a:solidFill>
              <a:srgbClr val="BFD3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1508760" cy="216712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2011680"/>
            <a:ext cx="667512" cy="283464"/>
          </a:xfrm>
          <a:prstGeom prst="roundRect">
            <a:avLst/>
          </a:prstGeom>
          <a:solidFill>
            <a:srgbClr val="58697C"/>
          </a:solidFill>
          <a:ln w="12700">
            <a:solidFill>
              <a:srgbClr val="58697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" y="2020824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00–08s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94944" y="2459736"/>
            <a:ext cx="1216152" cy="722376"/>
          </a:xfrm>
          <a:prstGeom prst="roundRect">
            <a:avLst/>
          </a:prstGeom>
          <a:solidFill>
            <a:srgbClr val="D6DEE5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5877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319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原始视频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602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选择样片 / 上传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2066544" y="2926080"/>
            <a:ext cx="365760" cy="0"/>
          </a:xfrm>
          <a:prstGeom prst="line">
            <a:avLst/>
          </a:prstGeom>
          <a:noFill/>
          <a:ln w="15240">
            <a:solidFill>
              <a:srgbClr val="58697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468880" y="1856232"/>
            <a:ext cx="1508760" cy="216712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96896" y="2011680"/>
            <a:ext cx="667512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96896" y="2020824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08–18s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2615184" y="2459736"/>
            <a:ext cx="1216152" cy="722376"/>
          </a:xfrm>
          <a:prstGeom prst="roundRect">
            <a:avLst/>
          </a:prstGeom>
          <a:solidFill>
            <a:srgbClr val="10263D"/>
          </a:solidFill>
          <a:ln w="12700">
            <a:solidFill>
              <a:srgbClr val="233F5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51760" y="25877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 ID 07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3319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检测与跟踪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606040" y="3602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bbox + stable track_id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3986784" y="2926080"/>
            <a:ext cx="365760" cy="0"/>
          </a:xfrm>
          <a:prstGeom prst="line">
            <a:avLst/>
          </a:prstGeom>
          <a:noFill/>
          <a:ln w="1524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89120" y="1856232"/>
            <a:ext cx="1508760" cy="216712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17136" y="2011680"/>
            <a:ext cx="667512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17136" y="2020824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18–30s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535424" y="2459736"/>
            <a:ext cx="1216152" cy="722376"/>
          </a:xfrm>
          <a:prstGeom prst="roundRect">
            <a:avLst/>
          </a:prstGeom>
          <a:solidFill>
            <a:srgbClr val="10263D"/>
          </a:solidFill>
          <a:ln w="12700">
            <a:solidFill>
              <a:srgbClr val="233F5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0" y="25877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CLIP  0.71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3319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身份线索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3602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 gate → Body ReID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5907024" y="2926080"/>
            <a:ext cx="36576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309360" y="1856232"/>
            <a:ext cx="1508760" cy="216712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37376" y="2011680"/>
            <a:ext cx="667512" cy="283464"/>
          </a:xfrm>
          <a:prstGeom prst="roundRect">
            <a:avLst/>
          </a:prstGeom>
          <a:solidFill>
            <a:srgbClr val="7957D5"/>
          </a:solidFill>
          <a:ln w="12700">
            <a:solidFill>
              <a:srgbClr val="7957D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37376" y="2020824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30–42s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455664" y="2459736"/>
            <a:ext cx="1216152" cy="722376"/>
          </a:xfrm>
          <a:prstGeom prst="roundRect">
            <a:avLst/>
          </a:prstGeom>
          <a:solidFill>
            <a:srgbClr val="10263D"/>
          </a:solidFill>
          <a:ln w="12700">
            <a:solidFill>
              <a:srgbClr val="233F5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92240" y="25877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━━━ ●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3319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事件窗口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3602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关键帧 + OCR / object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7827264" y="2926080"/>
            <a:ext cx="365760" cy="0"/>
          </a:xfrm>
          <a:prstGeom prst="line">
            <a:avLst/>
          </a:prstGeom>
          <a:noFill/>
          <a:ln w="15240">
            <a:solidFill>
              <a:srgbClr val="7957D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229600" y="1856232"/>
            <a:ext cx="1508760" cy="216712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357616" y="2011680"/>
            <a:ext cx="667512" cy="283464"/>
          </a:xfrm>
          <a:prstGeom prst="round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57616" y="2020824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42–52s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8375904" y="2459736"/>
            <a:ext cx="1216152" cy="722376"/>
          </a:xfrm>
          <a:prstGeom prst="roundRect">
            <a:avLst/>
          </a:prstGeom>
          <a:solidFill>
            <a:srgbClr val="10263D"/>
          </a:solidFill>
          <a:ln w="12700">
            <a:solidFill>
              <a:srgbClr val="233F5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412480" y="25877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event,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subject_id }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8366760" y="3319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输出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8366760" y="3602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 JSON / identity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9747504" y="2926080"/>
            <a:ext cx="365760" cy="0"/>
          </a:xfrm>
          <a:prstGeom prst="line">
            <a:avLst/>
          </a:prstGeom>
          <a:noFill/>
          <a:ln w="15240">
            <a:solidFill>
              <a:srgbClr val="E24A4A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149840" y="1856232"/>
            <a:ext cx="1508760" cy="216712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0277856" y="2011680"/>
            <a:ext cx="667512" cy="283464"/>
          </a:xfrm>
          <a:prstGeom prst="round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77856" y="2020824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52–60s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10296144" y="2459736"/>
            <a:ext cx="1216152" cy="722376"/>
          </a:xfrm>
          <a:prstGeom prst="roundRect">
            <a:avLst/>
          </a:prstGeom>
          <a:solidFill>
            <a:srgbClr val="E4F7EF"/>
          </a:solidFill>
          <a:ln w="12700">
            <a:solidFill>
              <a:srgbClr val="BDE5D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332720" y="25877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0287000" y="3319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时间线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10287000" y="3602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关键帧 / 告警 / 总结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548640" y="4416552"/>
            <a:ext cx="7296912" cy="1307592"/>
          </a:xfrm>
          <a:prstGeom prst="roundRect">
            <a:avLst>
              <a:gd name="adj" fmla="val 8392"/>
            </a:avLst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41248" y="4663440"/>
            <a:ext cx="2633472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41248" y="4672584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待插入：最终演示视频 / 链接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841248" y="5074920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EDA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建议成片 60 秒，画外音只解释“输入—身份 fallback—事件输出”三件事。</a:t>
            </a:r>
            <a:endParaRPr lang="en-US" sz="1120" dirty="0"/>
          </a:p>
        </p:txBody>
      </p:sp>
      <p:sp>
        <p:nvSpPr>
          <p:cNvPr id="60" name="Shape 58"/>
          <p:cNvSpPr/>
          <p:nvPr/>
        </p:nvSpPr>
        <p:spPr>
          <a:xfrm>
            <a:off x="8156448" y="4416552"/>
            <a:ext cx="3456432" cy="1307592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8421624" y="465429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备份策略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8412480" y="5102352"/>
            <a:ext cx="850392" cy="283464"/>
          </a:xfrm>
          <a:prstGeom prst="roundRect">
            <a:avLst/>
          </a:prstGeom>
          <a:solidFill>
            <a:srgbClr val="DDF7F7"/>
          </a:solidFill>
          <a:ln w="12700">
            <a:solidFill>
              <a:srgbClr val="DDF7F7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412480" y="5111496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78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预录视频</a:t>
            </a:r>
            <a:endParaRPr lang="en-US" sz="860" dirty="0"/>
          </a:p>
        </p:txBody>
      </p:sp>
      <p:sp>
        <p:nvSpPr>
          <p:cNvPr id="64" name="Shape 62"/>
          <p:cNvSpPr/>
          <p:nvPr/>
        </p:nvSpPr>
        <p:spPr>
          <a:xfrm>
            <a:off x="9363456" y="5102352"/>
            <a:ext cx="850392" cy="283464"/>
          </a:xfrm>
          <a:prstGeom prst="round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363456" y="5111496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dry-run JSON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10314432" y="5102352"/>
            <a:ext cx="850392" cy="283464"/>
          </a:xfrm>
          <a:prstGeom prst="round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314432" y="5111496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样片 + /health</a:t>
            </a:r>
            <a:endParaRPr lang="en-US" sz="860" dirty="0"/>
          </a:p>
        </p:txBody>
      </p:sp>
      <p:sp>
        <p:nvSpPr>
          <p:cNvPr id="68" name="Text 66"/>
          <p:cNvSpPr txBox="1"/>
          <p:nvPr/>
        </p:nvSpPr>
        <p:spPr>
          <a:xfrm>
            <a:off x="512064" y="6089904"/>
            <a:ext cx="10332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8492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演示路径依据：README.md API 与 Web timeline；当前未发现最终录屏资产</a:t>
            </a:r>
            <a:endParaRPr lang="en-US" sz="740" dirty="0"/>
          </a:p>
        </p:txBody>
      </p:sp>
      <p:sp>
        <p:nvSpPr>
          <p:cNvPr id="69" name="Text 67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9AA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70" name="Text 68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481328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38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 OUTCOME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5895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我们证明了什么，也明确没有证明什么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7101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的价值是缩小不确定性，而不是提前宣称生产就绪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1080000">
            <a:off x="10588752" y="-502920"/>
            <a:ext cx="2057400" cy="2057400"/>
          </a:xfrm>
          <a:prstGeom prst="arc">
            <a:avLst/>
          </a:prstGeom>
          <a:solidFill>
            <a:srgbClr val="D8E8EE">
              <a:alpha val="0"/>
            </a:srgbClr>
          </a:solidFill>
          <a:ln w="13970">
            <a:solidFill>
              <a:srgbClr val="D8E8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4572" y="370332"/>
            <a:ext cx="100584" cy="100584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20624"/>
            <a:ext cx="658368" cy="0"/>
          </a:xfrm>
          <a:prstGeom prst="line">
            <a:avLst/>
          </a:prstGeom>
          <a:noFill/>
          <a:ln w="8890">
            <a:solidFill>
              <a:srgbClr val="BFD3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1764792"/>
            <a:ext cx="3493008" cy="4142232"/>
          </a:xfrm>
          <a:prstGeom prst="roundRect">
            <a:avLst>
              <a:gd name="adj" fmla="val 3141"/>
            </a:avLst>
          </a:prstGeom>
          <a:solidFill>
            <a:srgbClr val="E4F7EF"/>
          </a:solidFill>
          <a:ln w="12700">
            <a:solidFill>
              <a:srgbClr val="E4F7EF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993392"/>
            <a:ext cx="969264" cy="283464"/>
          </a:xfrm>
          <a:prstGeom prst="round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002536"/>
            <a:ext cx="969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已证明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587752"/>
            <a:ext cx="365760" cy="283464"/>
          </a:xfrm>
          <a:prstGeom prst="round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59689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569464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 Web / API 与事件输出链路可运行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1261872" y="3154680"/>
            <a:ext cx="2395728" cy="0"/>
          </a:xfrm>
          <a:prstGeom prst="line">
            <a:avLst/>
          </a:prstGeom>
          <a:noFill/>
          <a:ln w="6350">
            <a:solidFill>
              <a:srgbClr val="18A66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77240" y="3291840"/>
            <a:ext cx="365760" cy="283464"/>
          </a:xfrm>
          <a:prstGeom prst="round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30098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3273552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生成式超分不应默认进入自动身份识别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1261872" y="3858768"/>
            <a:ext cx="2395728" cy="0"/>
          </a:xfrm>
          <a:prstGeom prst="line">
            <a:avLst/>
          </a:prstGeom>
          <a:noFill/>
          <a:ln w="6350">
            <a:solidFill>
              <a:srgbClr val="18A66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77240" y="3995928"/>
            <a:ext cx="365760" cy="283464"/>
          </a:xfrm>
          <a:prstGeom prst="round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00507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3977640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四个现成 ReID 后端可在冻结协议下公平选型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1261872" y="4562856"/>
            <a:ext cx="2395728" cy="0"/>
          </a:xfrm>
          <a:prstGeom prst="line">
            <a:avLst/>
          </a:prstGeom>
          <a:noFill/>
          <a:ln w="6350">
            <a:solidFill>
              <a:srgbClr val="18A66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365760" cy="283464"/>
          </a:xfrm>
          <a:prstGeom prst="round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70916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68172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CLIP-ReID 实时综合；DIFFER 准确率优先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4315968" y="1764792"/>
            <a:ext cx="3493008" cy="4142232"/>
          </a:xfrm>
          <a:prstGeom prst="roundRect">
            <a:avLst>
              <a:gd name="adj" fmla="val 3141"/>
            </a:avLst>
          </a:prstGeom>
          <a:solidFill>
            <a:srgbClr val="FDEAEA"/>
          </a:solidFill>
          <a:ln w="12700">
            <a:solidFill>
              <a:srgbClr val="FDEAEA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44568" y="1993392"/>
            <a:ext cx="969264" cy="283464"/>
          </a:xfrm>
          <a:prstGeom prst="round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44568" y="2002536"/>
            <a:ext cx="969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尚未证明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44568" y="2587752"/>
            <a:ext cx="365760" cy="283464"/>
          </a:xfrm>
          <a:prstGeom prst="round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44568" y="259689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" dirty="0"/>
          </a:p>
        </p:txBody>
      </p:sp>
      <p:sp>
        <p:nvSpPr>
          <p:cNvPr id="32" name="Text 30"/>
          <p:cNvSpPr txBox="1"/>
          <p:nvPr/>
        </p:nvSpPr>
        <p:spPr>
          <a:xfrm>
            <a:off x="5029200" y="2569464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MEVID 结果等同于客户真实摄像头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5029200" y="3154680"/>
            <a:ext cx="2395728" cy="0"/>
          </a:xfrm>
          <a:prstGeom prst="line">
            <a:avLst/>
          </a:prstGeom>
          <a:noFill/>
          <a:ln w="6350">
            <a:solidFill>
              <a:srgbClr val="E24A4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544568" y="3291840"/>
            <a:ext cx="365760" cy="283464"/>
          </a:xfrm>
          <a:prstGeom prst="round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44568" y="330098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" dirty="0"/>
          </a:p>
        </p:txBody>
      </p:sp>
      <p:sp>
        <p:nvSpPr>
          <p:cNvPr id="36" name="Text 34"/>
          <p:cNvSpPr txBox="1"/>
          <p:nvPr/>
        </p:nvSpPr>
        <p:spPr>
          <a:xfrm>
            <a:off x="5029200" y="3273552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的 8 / 23 代表换衣问题已解决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5029200" y="3858768"/>
            <a:ext cx="2395728" cy="0"/>
          </a:xfrm>
          <a:prstGeom prst="line">
            <a:avLst/>
          </a:prstGeom>
          <a:noFill/>
          <a:ln w="6350">
            <a:solidFill>
              <a:srgbClr val="E24A4A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544568" y="3995928"/>
            <a:ext cx="365760" cy="283464"/>
          </a:xfrm>
          <a:prstGeom prst="round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44568" y="400507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5029200" y="3977640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 条陌生人足以证明线上 FMR &lt; 1%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5029200" y="4562856"/>
            <a:ext cx="2395728" cy="0"/>
          </a:xfrm>
          <a:prstGeom prst="line">
            <a:avLst/>
          </a:prstGeom>
          <a:noFill/>
          <a:ln w="6350">
            <a:solidFill>
              <a:srgbClr val="E24A4A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544568" y="4700016"/>
            <a:ext cx="365760" cy="283464"/>
          </a:xfrm>
          <a:prstGeom prst="round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44568" y="470916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" dirty="0"/>
          </a:p>
        </p:txBody>
      </p:sp>
      <p:sp>
        <p:nvSpPr>
          <p:cNvPr id="44" name="Text 42"/>
          <p:cNvSpPr txBox="1"/>
          <p:nvPr/>
        </p:nvSpPr>
        <p:spPr>
          <a:xfrm>
            <a:off x="5029200" y="468172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离线人体 crop 指标等于端到端产品准确率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8083296" y="1764792"/>
            <a:ext cx="3493008" cy="4142232"/>
          </a:xfrm>
          <a:prstGeom prst="roundRect">
            <a:avLst>
              <a:gd name="adj" fmla="val 3141"/>
            </a:avLst>
          </a:prstGeom>
          <a:solidFill>
            <a:srgbClr val="FFF2D6"/>
          </a:solidFill>
          <a:ln w="12700">
            <a:solidFill>
              <a:srgbClr val="FFF2D6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11896" y="1993392"/>
            <a:ext cx="969264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11896" y="2002536"/>
            <a:ext cx="969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311896" y="2587752"/>
            <a:ext cx="365760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311896" y="259689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" dirty="0"/>
          </a:p>
        </p:txBody>
      </p:sp>
      <p:sp>
        <p:nvSpPr>
          <p:cNvPr id="50" name="Text 48"/>
          <p:cNvSpPr txBox="1"/>
          <p:nvPr/>
        </p:nvSpPr>
        <p:spPr>
          <a:xfrm>
            <a:off x="8796528" y="2569464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冻结客户域验证集，独立复验默认候选</a:t>
            </a:r>
            <a:endParaRPr lang="en-US" sz="1120" dirty="0"/>
          </a:p>
        </p:txBody>
      </p:sp>
      <p:sp>
        <p:nvSpPr>
          <p:cNvPr id="51" name="Shape 49"/>
          <p:cNvSpPr/>
          <p:nvPr/>
        </p:nvSpPr>
        <p:spPr>
          <a:xfrm>
            <a:off x="8796528" y="3154680"/>
            <a:ext cx="2395728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8311896" y="3291840"/>
            <a:ext cx="365760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311896" y="330098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" dirty="0"/>
          </a:p>
        </p:txBody>
      </p:sp>
      <p:sp>
        <p:nvSpPr>
          <p:cNvPr id="54" name="Text 52"/>
          <p:cNvSpPr txBox="1"/>
          <p:nvPr/>
        </p:nvSpPr>
        <p:spPr>
          <a:xfrm>
            <a:off x="8796528" y="3273552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纳入漏检、ID switch、遮挡与跨镜头关联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8796528" y="3858768"/>
            <a:ext cx="2395728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8311896" y="3995928"/>
            <a:ext cx="365760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311896" y="400507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" dirty="0"/>
          </a:p>
        </p:txBody>
      </p:sp>
      <p:sp>
        <p:nvSpPr>
          <p:cNvPr id="58" name="Text 56"/>
          <p:cNvSpPr txBox="1"/>
          <p:nvPr/>
        </p:nvSpPr>
        <p:spPr>
          <a:xfrm>
            <a:off x="8796528" y="3977640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person ID 做 bootstrap / 配对显著性</a:t>
            </a:r>
            <a:endParaRPr lang="en-US" sz="1120" dirty="0"/>
          </a:p>
        </p:txBody>
      </p:sp>
      <p:sp>
        <p:nvSpPr>
          <p:cNvPr id="59" name="Shape 57"/>
          <p:cNvSpPr/>
          <p:nvPr/>
        </p:nvSpPr>
        <p:spPr>
          <a:xfrm>
            <a:off x="8796528" y="4562856"/>
            <a:ext cx="2395728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8311896" y="4700016"/>
            <a:ext cx="365760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311896" y="470916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" dirty="0"/>
          </a:p>
        </p:txBody>
      </p:sp>
      <p:sp>
        <p:nvSpPr>
          <p:cNvPr id="62" name="Text 60"/>
          <p:cNvSpPr txBox="1"/>
          <p:nvPr/>
        </p:nvSpPr>
        <p:spPr>
          <a:xfrm>
            <a:off x="8796528" y="468172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5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并发出现后再评估 AKS / 多 VM 架构</a:t>
            </a:r>
            <a:endParaRPr lang="en-US" sz="1120" dirty="0"/>
          </a:p>
        </p:txBody>
      </p:sp>
      <p:sp>
        <p:nvSpPr>
          <p:cNvPr id="63" name="Shape 61"/>
          <p:cNvSpPr/>
          <p:nvPr/>
        </p:nvSpPr>
        <p:spPr>
          <a:xfrm>
            <a:off x="3236976" y="5815584"/>
            <a:ext cx="5696712" cy="283464"/>
          </a:xfrm>
          <a:prstGeom prst="roundRect">
            <a:avLst/>
          </a:prstGeom>
          <a:solidFill>
            <a:srgbClr val="091426"/>
          </a:solidFill>
          <a:ln w="12700">
            <a:solidFill>
              <a:srgbClr val="09142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236976" y="5824728"/>
            <a:ext cx="5696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生产门槛 = 客户域数据 + 端到端指标 + 并发 / 成本 / 合规预算</a:t>
            </a:r>
            <a:endParaRPr lang="en-US" sz="1060" dirty="0"/>
          </a:p>
        </p:txBody>
      </p:sp>
      <p:sp>
        <p:nvSpPr>
          <p:cNvPr id="65" name="Text 63"/>
          <p:cNvSpPr txBox="1"/>
          <p:nvPr/>
        </p:nvSpPr>
        <p:spPr>
          <a:xfrm>
            <a:off x="512064" y="6089904"/>
            <a:ext cx="10332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8492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证据：统一报告 §18 / 最终结论；docs/cloud-deploy/README.md future evolution</a:t>
            </a:r>
            <a:endParaRPr lang="en-US" sz="740" dirty="0"/>
          </a:p>
        </p:txBody>
      </p:sp>
      <p:sp>
        <p:nvSpPr>
          <p:cNvPr id="66" name="Text 64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9AA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67" name="Text 65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6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03504"/>
            <a:ext cx="1261872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61264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1887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从“修清楚”到“证据可信”</a:t>
            </a:r>
            <a:endParaRPr lang="en-US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181965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9EB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三句话总结这次 POC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" y="2496312"/>
            <a:ext cx="420624" cy="283464"/>
          </a:xfrm>
          <a:prstGeom prst="round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" y="2505456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247802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468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低质量场景要允许拒绝，并用独立身份线索 fallback。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94944" y="3438144"/>
            <a:ext cx="420624" cy="2834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3447288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341985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341071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冻结协议足以支持当前后端选型，但不是普遍算法排名。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4944" y="4379976"/>
            <a:ext cx="420624" cy="283464"/>
          </a:xfrm>
          <a:prstGeom prst="round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4389120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4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43616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435254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CLIP-ReID 选平衡；DIFFER 选准确率；超分默认关闭。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842248" y="1197864"/>
            <a:ext cx="2514600" cy="4315968"/>
          </a:xfrm>
          <a:prstGeom prst="roundRect">
            <a:avLst>
              <a:gd name="adj" fmla="val 4364"/>
            </a:avLst>
          </a:prstGeom>
          <a:solidFill>
            <a:srgbClr val="132942"/>
          </a:solidFill>
          <a:ln w="12700">
            <a:solidFill>
              <a:srgbClr val="29465F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25712" y="184708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1D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3800" dirty="0"/>
          </a:p>
        </p:txBody>
      </p:sp>
      <p:sp>
        <p:nvSpPr>
          <p:cNvPr id="21" name="Shape 19"/>
          <p:cNvSpPr/>
          <p:nvPr/>
        </p:nvSpPr>
        <p:spPr>
          <a:xfrm>
            <a:off x="9537192" y="2779776"/>
            <a:ext cx="1115568" cy="0"/>
          </a:xfrm>
          <a:prstGeom prst="line">
            <a:avLst/>
          </a:prstGeom>
          <a:noFill/>
          <a:ln w="12700">
            <a:solidFill>
              <a:srgbClr val="45607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9125712" y="3127248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9171432" y="3776472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FC2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欢迎围绕产品链路、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AFC2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实验公平性与云端复现提问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07424" y="4828032"/>
            <a:ext cx="1993392" cy="283464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07424" y="4837176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待确认：答辩人联系方式</a:t>
            </a:r>
            <a:endParaRPr lang="en-US" sz="920" dirty="0"/>
          </a:p>
        </p:txBody>
      </p:sp>
      <p:sp>
        <p:nvSpPr>
          <p:cNvPr id="26" name="Text 24"/>
          <p:cNvSpPr txBox="1"/>
          <p:nvPr/>
        </p:nvSpPr>
        <p:spPr>
          <a:xfrm>
            <a:off x="512064" y="631850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kern="0" spc="140" dirty="0">
                <a:solidFill>
                  <a:srgbClr val="6079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AI POC  /  INTERN DEFENSE</a:t>
            </a:r>
            <a:endParaRPr lang="en-US" sz="73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0" y="6281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C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2752</Words>
  <Application>Microsoft Office PowerPoint</Application>
  <PresentationFormat>宽屏</PresentationFormat>
  <Paragraphs>504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视频 AI 事件监控与身份识别 POC</dc:title>
  <dc:subject>实习最终答辩</dc:subject>
  <dc:creator>Copilot</dc:creator>
  <cp:lastModifiedBy>Zhijing Wu</cp:lastModifiedBy>
  <cp:revision>2</cp:revision>
  <dcterms:created xsi:type="dcterms:W3CDTF">2026-08-04T04:26:37Z</dcterms:created>
  <dcterms:modified xsi:type="dcterms:W3CDTF">2026-08-04T04:26:44Z</dcterms:modified>
</cp:coreProperties>
</file>